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38" r:id="rId2"/>
    <p:sldId id="339" r:id="rId3"/>
    <p:sldId id="340" r:id="rId4"/>
    <p:sldId id="344" r:id="rId5"/>
    <p:sldId id="345" r:id="rId6"/>
    <p:sldId id="341" r:id="rId7"/>
    <p:sldId id="342" r:id="rId8"/>
    <p:sldId id="343" r:id="rId9"/>
    <p:sldId id="346" r:id="rId10"/>
    <p:sldId id="351" r:id="rId11"/>
    <p:sldId id="349" r:id="rId12"/>
    <p:sldId id="350"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6EFC24-A8B7-4ACC-8F85-534CF49B57D1}" type="datetimeFigureOut">
              <a:rPr lang="zh-CN" altLang="en-US" smtClean="0"/>
              <a:t>2025/1/6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A895F8-BE26-4A7E-B1CE-8B0717BE2B3A}" type="slidenum">
              <a:rPr lang="zh-CN" altLang="en-US" smtClean="0"/>
              <a:t>‹#›</a:t>
            </a:fld>
            <a:endParaRPr lang="zh-CN" altLang="en-US"/>
          </a:p>
        </p:txBody>
      </p:sp>
    </p:spTree>
    <p:extLst>
      <p:ext uri="{BB962C8B-B14F-4D97-AF65-F5344CB8AC3E}">
        <p14:creationId xmlns:p14="http://schemas.microsoft.com/office/powerpoint/2010/main" val="376076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63E8C-5415-D8ED-E158-27F878C381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190F43-C1BC-151A-9DE7-501EE6498E0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292184-64F4-31EB-9CD0-69D79D7B755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F2EE674-9949-C75D-0FDA-7D2E22AA2882}"/>
              </a:ext>
            </a:extLst>
          </p:cNvPr>
          <p:cNvSpPr>
            <a:spLocks noGrp="1"/>
          </p:cNvSpPr>
          <p:nvPr>
            <p:ph type="sldNum" sz="quarter" idx="5"/>
          </p:nvPr>
        </p:nvSpPr>
        <p:spPr/>
        <p:txBody>
          <a:bodyPr/>
          <a:lstStyle/>
          <a:p>
            <a:fld id="{8F247975-04F3-4B68-9A22-B7FCD9BDA768}" type="slidenum">
              <a:rPr lang="zh-CN" altLang="en-US" smtClean="0"/>
              <a:t>1</a:t>
            </a:fld>
            <a:endParaRPr lang="zh-CN" altLang="en-US"/>
          </a:p>
        </p:txBody>
      </p:sp>
    </p:spTree>
    <p:extLst>
      <p:ext uri="{BB962C8B-B14F-4D97-AF65-F5344CB8AC3E}">
        <p14:creationId xmlns:p14="http://schemas.microsoft.com/office/powerpoint/2010/main" val="1577224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6AB44-3F6E-B474-C0CE-6F5354413B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5205AE-EAA6-3503-F53F-2B857467DD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5022D0-289E-F2A6-868E-376755E2EFD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50C5F4E-61E2-A2BC-FACA-F005FFB05E44}"/>
              </a:ext>
            </a:extLst>
          </p:cNvPr>
          <p:cNvSpPr>
            <a:spLocks noGrp="1"/>
          </p:cNvSpPr>
          <p:nvPr>
            <p:ph type="sldNum" sz="quarter" idx="5"/>
          </p:nvPr>
        </p:nvSpPr>
        <p:spPr/>
        <p:txBody>
          <a:bodyPr/>
          <a:lstStyle/>
          <a:p>
            <a:fld id="{8F247975-04F3-4B68-9A22-B7FCD9BDA768}" type="slidenum">
              <a:rPr lang="zh-CN" altLang="en-US" smtClean="0"/>
              <a:t>2</a:t>
            </a:fld>
            <a:endParaRPr lang="zh-CN" altLang="en-US"/>
          </a:p>
        </p:txBody>
      </p:sp>
    </p:spTree>
    <p:extLst>
      <p:ext uri="{BB962C8B-B14F-4D97-AF65-F5344CB8AC3E}">
        <p14:creationId xmlns:p14="http://schemas.microsoft.com/office/powerpoint/2010/main" val="959264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27C50-2502-4AC2-F421-3E7E3C2C51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AE1737-17A3-01D1-1D37-5C29A60263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5F3035-52E6-5305-0E53-96DED752098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E2D0411-2198-A634-B370-B3DFBFCAFB48}"/>
              </a:ext>
            </a:extLst>
          </p:cNvPr>
          <p:cNvSpPr>
            <a:spLocks noGrp="1"/>
          </p:cNvSpPr>
          <p:nvPr>
            <p:ph type="sldNum" sz="quarter" idx="5"/>
          </p:nvPr>
        </p:nvSpPr>
        <p:spPr/>
        <p:txBody>
          <a:bodyPr/>
          <a:lstStyle/>
          <a:p>
            <a:fld id="{8F247975-04F3-4B68-9A22-B7FCD9BDA768}" type="slidenum">
              <a:rPr lang="zh-CN" altLang="en-US" smtClean="0"/>
              <a:t>3</a:t>
            </a:fld>
            <a:endParaRPr lang="zh-CN" altLang="en-US"/>
          </a:p>
        </p:txBody>
      </p:sp>
    </p:spTree>
    <p:extLst>
      <p:ext uri="{BB962C8B-B14F-4D97-AF65-F5344CB8AC3E}">
        <p14:creationId xmlns:p14="http://schemas.microsoft.com/office/powerpoint/2010/main" val="1841525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2CC51-641F-FE70-B702-E3BB7934FC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509101-2D23-84ED-52AE-32BDBCD2A72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2BF5D1-119C-156E-3073-BFD0D065BE9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BA1731E-9C48-593A-7FC2-2A71D652B431}"/>
              </a:ext>
            </a:extLst>
          </p:cNvPr>
          <p:cNvSpPr>
            <a:spLocks noGrp="1"/>
          </p:cNvSpPr>
          <p:nvPr>
            <p:ph type="sldNum" sz="quarter" idx="5"/>
          </p:nvPr>
        </p:nvSpPr>
        <p:spPr/>
        <p:txBody>
          <a:bodyPr/>
          <a:lstStyle/>
          <a:p>
            <a:fld id="{8F247975-04F3-4B68-9A22-B7FCD9BDA768}" type="slidenum">
              <a:rPr lang="zh-CN" altLang="en-US" smtClean="0"/>
              <a:t>4</a:t>
            </a:fld>
            <a:endParaRPr lang="zh-CN" altLang="en-US"/>
          </a:p>
        </p:txBody>
      </p:sp>
    </p:spTree>
    <p:extLst>
      <p:ext uri="{BB962C8B-B14F-4D97-AF65-F5344CB8AC3E}">
        <p14:creationId xmlns:p14="http://schemas.microsoft.com/office/powerpoint/2010/main" val="2705117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F2098-AB06-DEB2-980A-1931F50BDD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E131E2-6A7A-94D2-F9AA-F5C93C4B340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445B82-F997-3135-2631-116481724FA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B55B5F7-6E14-29BB-D298-20BFE1D7206A}"/>
              </a:ext>
            </a:extLst>
          </p:cNvPr>
          <p:cNvSpPr>
            <a:spLocks noGrp="1"/>
          </p:cNvSpPr>
          <p:nvPr>
            <p:ph type="sldNum" sz="quarter" idx="5"/>
          </p:nvPr>
        </p:nvSpPr>
        <p:spPr/>
        <p:txBody>
          <a:bodyPr/>
          <a:lstStyle/>
          <a:p>
            <a:fld id="{8F247975-04F3-4B68-9A22-B7FCD9BDA768}" type="slidenum">
              <a:rPr lang="zh-CN" altLang="en-US" smtClean="0"/>
              <a:t>5</a:t>
            </a:fld>
            <a:endParaRPr lang="zh-CN" altLang="en-US"/>
          </a:p>
        </p:txBody>
      </p:sp>
    </p:spTree>
    <p:extLst>
      <p:ext uri="{BB962C8B-B14F-4D97-AF65-F5344CB8AC3E}">
        <p14:creationId xmlns:p14="http://schemas.microsoft.com/office/powerpoint/2010/main" val="809046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5BC30-E1FB-B759-D5C3-AD2C4DD37F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4543C1-8257-A821-9AB6-5CB3C433BE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7C4AE3-3CB8-C661-1758-CE71BF88567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0EC4F32-64D2-F40C-EB6A-0C8549D19AEE}"/>
              </a:ext>
            </a:extLst>
          </p:cNvPr>
          <p:cNvSpPr>
            <a:spLocks noGrp="1"/>
          </p:cNvSpPr>
          <p:nvPr>
            <p:ph type="sldNum" sz="quarter" idx="5"/>
          </p:nvPr>
        </p:nvSpPr>
        <p:spPr/>
        <p:txBody>
          <a:bodyPr/>
          <a:lstStyle/>
          <a:p>
            <a:fld id="{8F247975-04F3-4B68-9A22-B7FCD9BDA768}" type="slidenum">
              <a:rPr lang="zh-CN" altLang="en-US" smtClean="0"/>
              <a:t>6</a:t>
            </a:fld>
            <a:endParaRPr lang="zh-CN" altLang="en-US"/>
          </a:p>
        </p:txBody>
      </p:sp>
    </p:spTree>
    <p:extLst>
      <p:ext uri="{BB962C8B-B14F-4D97-AF65-F5344CB8AC3E}">
        <p14:creationId xmlns:p14="http://schemas.microsoft.com/office/powerpoint/2010/main" val="782092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A6A23-6914-E46B-F62E-DEDBECFF91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B98A2F-9216-3DBF-25D8-9A1C0752A7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6FC6F7-9BDE-84BE-5AB5-24939F8F617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7E88CD5-5BD4-77F1-3905-E43ECB544D89}"/>
              </a:ext>
            </a:extLst>
          </p:cNvPr>
          <p:cNvSpPr>
            <a:spLocks noGrp="1"/>
          </p:cNvSpPr>
          <p:nvPr>
            <p:ph type="sldNum" sz="quarter" idx="5"/>
          </p:nvPr>
        </p:nvSpPr>
        <p:spPr/>
        <p:txBody>
          <a:bodyPr/>
          <a:lstStyle/>
          <a:p>
            <a:fld id="{8F247975-04F3-4B68-9A22-B7FCD9BDA768}" type="slidenum">
              <a:rPr lang="zh-CN" altLang="en-US" smtClean="0"/>
              <a:t>7</a:t>
            </a:fld>
            <a:endParaRPr lang="zh-CN" altLang="en-US"/>
          </a:p>
        </p:txBody>
      </p:sp>
    </p:spTree>
    <p:extLst>
      <p:ext uri="{BB962C8B-B14F-4D97-AF65-F5344CB8AC3E}">
        <p14:creationId xmlns:p14="http://schemas.microsoft.com/office/powerpoint/2010/main" val="2485619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53580-D60B-1792-6B56-E4B5F17B74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EFDBBB9-89F3-496F-53E8-F0EF15AED7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DE78EB-755B-A9BE-6377-660CC190AD5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5917DB8-C8D2-D651-3695-D590A3623EDC}"/>
              </a:ext>
            </a:extLst>
          </p:cNvPr>
          <p:cNvSpPr>
            <a:spLocks noGrp="1"/>
          </p:cNvSpPr>
          <p:nvPr>
            <p:ph type="sldNum" sz="quarter" idx="5"/>
          </p:nvPr>
        </p:nvSpPr>
        <p:spPr/>
        <p:txBody>
          <a:bodyPr/>
          <a:lstStyle/>
          <a:p>
            <a:fld id="{8F247975-04F3-4B68-9A22-B7FCD9BDA768}" type="slidenum">
              <a:rPr lang="zh-CN" altLang="en-US" smtClean="0"/>
              <a:t>8</a:t>
            </a:fld>
            <a:endParaRPr lang="zh-CN" altLang="en-US"/>
          </a:p>
        </p:txBody>
      </p:sp>
    </p:spTree>
    <p:extLst>
      <p:ext uri="{BB962C8B-B14F-4D97-AF65-F5344CB8AC3E}">
        <p14:creationId xmlns:p14="http://schemas.microsoft.com/office/powerpoint/2010/main" val="2873555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ADA60-7F73-3C21-7C41-BB6CB67810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0B6A40-EC82-BA29-6B6E-B4A02E258D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CB95DD-56BB-EE6F-DE6C-E3780352AE2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D80FB6-AED9-332C-2220-C9935509FBD2}"/>
              </a:ext>
            </a:extLst>
          </p:cNvPr>
          <p:cNvSpPr>
            <a:spLocks noGrp="1"/>
          </p:cNvSpPr>
          <p:nvPr>
            <p:ph type="sldNum" sz="quarter" idx="5"/>
          </p:nvPr>
        </p:nvSpPr>
        <p:spPr/>
        <p:txBody>
          <a:bodyPr/>
          <a:lstStyle/>
          <a:p>
            <a:fld id="{8F247975-04F3-4B68-9A22-B7FCD9BDA768}" type="slidenum">
              <a:rPr lang="zh-CN" altLang="en-US" smtClean="0"/>
              <a:t>11</a:t>
            </a:fld>
            <a:endParaRPr lang="zh-CN" altLang="en-US"/>
          </a:p>
        </p:txBody>
      </p:sp>
    </p:spTree>
    <p:extLst>
      <p:ext uri="{BB962C8B-B14F-4D97-AF65-F5344CB8AC3E}">
        <p14:creationId xmlns:p14="http://schemas.microsoft.com/office/powerpoint/2010/main" val="244996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69C9B-5A14-1A01-A2AD-CB56B72439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AB086B-8357-ADCC-64EB-F8F674A2E5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285CCA-7E0F-BDBA-D92F-EFAE1808D52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4FED41F-4CF7-86B8-6D8F-FCB7FAA7B07B}"/>
              </a:ext>
            </a:extLst>
          </p:cNvPr>
          <p:cNvSpPr>
            <a:spLocks noGrp="1"/>
          </p:cNvSpPr>
          <p:nvPr>
            <p:ph type="sldNum" sz="quarter" idx="5"/>
          </p:nvPr>
        </p:nvSpPr>
        <p:spPr/>
        <p:txBody>
          <a:bodyPr/>
          <a:lstStyle/>
          <a:p>
            <a:fld id="{8F247975-04F3-4B68-9A22-B7FCD9BDA768}" type="slidenum">
              <a:rPr lang="zh-CN" altLang="en-US" smtClean="0"/>
              <a:t>12</a:t>
            </a:fld>
            <a:endParaRPr lang="zh-CN" altLang="en-US"/>
          </a:p>
        </p:txBody>
      </p:sp>
    </p:spTree>
    <p:extLst>
      <p:ext uri="{BB962C8B-B14F-4D97-AF65-F5344CB8AC3E}">
        <p14:creationId xmlns:p14="http://schemas.microsoft.com/office/powerpoint/2010/main" val="4182783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F32731-1322-C2E3-0A4B-C45AD926ED6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7E8CF4E-AD81-26E4-0E0E-D43AA6F270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CED06CE-905B-E562-40E1-F45D3E701D3E}"/>
              </a:ext>
            </a:extLst>
          </p:cNvPr>
          <p:cNvSpPr>
            <a:spLocks noGrp="1"/>
          </p:cNvSpPr>
          <p:nvPr>
            <p:ph type="dt" sz="half" idx="10"/>
          </p:nvPr>
        </p:nvSpPr>
        <p:spPr/>
        <p:txBody>
          <a:bodyPr/>
          <a:lstStyle/>
          <a:p>
            <a:fld id="{5FEA9B3C-E2BC-4E82-80BA-995A033337CA}" type="datetimeFigureOut">
              <a:rPr lang="zh-CN" altLang="en-US" smtClean="0"/>
              <a:t>2025/1/6</a:t>
            </a:fld>
            <a:endParaRPr lang="zh-CN" altLang="en-US"/>
          </a:p>
        </p:txBody>
      </p:sp>
      <p:sp>
        <p:nvSpPr>
          <p:cNvPr id="5" name="页脚占位符 4">
            <a:extLst>
              <a:ext uri="{FF2B5EF4-FFF2-40B4-BE49-F238E27FC236}">
                <a16:creationId xmlns:a16="http://schemas.microsoft.com/office/drawing/2014/main" id="{E1CDF398-1B24-397E-6C02-B986F2BEB0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8DE1F1-0044-6CCC-EC9F-D9CF471EC3C7}"/>
              </a:ext>
            </a:extLst>
          </p:cNvPr>
          <p:cNvSpPr>
            <a:spLocks noGrp="1"/>
          </p:cNvSpPr>
          <p:nvPr>
            <p:ph type="sldNum" sz="quarter" idx="12"/>
          </p:nvPr>
        </p:nvSpPr>
        <p:spPr/>
        <p:txBody>
          <a:bodyPr/>
          <a:lstStyle/>
          <a:p>
            <a:fld id="{880452E5-512A-4FC2-AFCA-96ACE6556DD7}" type="slidenum">
              <a:rPr lang="zh-CN" altLang="en-US" smtClean="0"/>
              <a:t>‹#›</a:t>
            </a:fld>
            <a:endParaRPr lang="zh-CN" altLang="en-US"/>
          </a:p>
        </p:txBody>
      </p:sp>
    </p:spTree>
    <p:extLst>
      <p:ext uri="{BB962C8B-B14F-4D97-AF65-F5344CB8AC3E}">
        <p14:creationId xmlns:p14="http://schemas.microsoft.com/office/powerpoint/2010/main" val="246378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FD0BF4-9CEE-65F8-D267-09781001A3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F5AFE59-67A2-C0B9-8CFE-17119FD55E4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7B312B9-B871-A713-BAB8-8929FE6BB620}"/>
              </a:ext>
            </a:extLst>
          </p:cNvPr>
          <p:cNvSpPr>
            <a:spLocks noGrp="1"/>
          </p:cNvSpPr>
          <p:nvPr>
            <p:ph type="dt" sz="half" idx="10"/>
          </p:nvPr>
        </p:nvSpPr>
        <p:spPr/>
        <p:txBody>
          <a:bodyPr/>
          <a:lstStyle/>
          <a:p>
            <a:fld id="{5FEA9B3C-E2BC-4E82-80BA-995A033337CA}" type="datetimeFigureOut">
              <a:rPr lang="zh-CN" altLang="en-US" smtClean="0"/>
              <a:t>2025/1/6</a:t>
            </a:fld>
            <a:endParaRPr lang="zh-CN" altLang="en-US"/>
          </a:p>
        </p:txBody>
      </p:sp>
      <p:sp>
        <p:nvSpPr>
          <p:cNvPr id="5" name="页脚占位符 4">
            <a:extLst>
              <a:ext uri="{FF2B5EF4-FFF2-40B4-BE49-F238E27FC236}">
                <a16:creationId xmlns:a16="http://schemas.microsoft.com/office/drawing/2014/main" id="{30B9A431-6279-141E-82D3-E292FBF1CF8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727FEA-ED1C-62F5-DC7E-0D6C033A7A09}"/>
              </a:ext>
            </a:extLst>
          </p:cNvPr>
          <p:cNvSpPr>
            <a:spLocks noGrp="1"/>
          </p:cNvSpPr>
          <p:nvPr>
            <p:ph type="sldNum" sz="quarter" idx="12"/>
          </p:nvPr>
        </p:nvSpPr>
        <p:spPr/>
        <p:txBody>
          <a:bodyPr/>
          <a:lstStyle/>
          <a:p>
            <a:fld id="{880452E5-512A-4FC2-AFCA-96ACE6556DD7}" type="slidenum">
              <a:rPr lang="zh-CN" altLang="en-US" smtClean="0"/>
              <a:t>‹#›</a:t>
            </a:fld>
            <a:endParaRPr lang="zh-CN" altLang="en-US"/>
          </a:p>
        </p:txBody>
      </p:sp>
    </p:spTree>
    <p:extLst>
      <p:ext uri="{BB962C8B-B14F-4D97-AF65-F5344CB8AC3E}">
        <p14:creationId xmlns:p14="http://schemas.microsoft.com/office/powerpoint/2010/main" val="923318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C68766-F405-EB66-BED9-AB1D551510F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4046A3F-C55E-F17F-1D24-C76427D759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62090E9-D32D-2245-AAC3-623C1E9C408D}"/>
              </a:ext>
            </a:extLst>
          </p:cNvPr>
          <p:cNvSpPr>
            <a:spLocks noGrp="1"/>
          </p:cNvSpPr>
          <p:nvPr>
            <p:ph type="dt" sz="half" idx="10"/>
          </p:nvPr>
        </p:nvSpPr>
        <p:spPr/>
        <p:txBody>
          <a:bodyPr/>
          <a:lstStyle/>
          <a:p>
            <a:fld id="{5FEA9B3C-E2BC-4E82-80BA-995A033337CA}" type="datetimeFigureOut">
              <a:rPr lang="zh-CN" altLang="en-US" smtClean="0"/>
              <a:t>2025/1/6</a:t>
            </a:fld>
            <a:endParaRPr lang="zh-CN" altLang="en-US"/>
          </a:p>
        </p:txBody>
      </p:sp>
      <p:sp>
        <p:nvSpPr>
          <p:cNvPr id="5" name="页脚占位符 4">
            <a:extLst>
              <a:ext uri="{FF2B5EF4-FFF2-40B4-BE49-F238E27FC236}">
                <a16:creationId xmlns:a16="http://schemas.microsoft.com/office/drawing/2014/main" id="{C39F0C0C-8932-EDE1-EEE8-F63836CD90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E8A666B-5BA2-4B27-9357-7C11671835E1}"/>
              </a:ext>
            </a:extLst>
          </p:cNvPr>
          <p:cNvSpPr>
            <a:spLocks noGrp="1"/>
          </p:cNvSpPr>
          <p:nvPr>
            <p:ph type="sldNum" sz="quarter" idx="12"/>
          </p:nvPr>
        </p:nvSpPr>
        <p:spPr/>
        <p:txBody>
          <a:bodyPr/>
          <a:lstStyle/>
          <a:p>
            <a:fld id="{880452E5-512A-4FC2-AFCA-96ACE6556DD7}" type="slidenum">
              <a:rPr lang="zh-CN" altLang="en-US" smtClean="0"/>
              <a:t>‹#›</a:t>
            </a:fld>
            <a:endParaRPr lang="zh-CN" altLang="en-US"/>
          </a:p>
        </p:txBody>
      </p:sp>
    </p:spTree>
    <p:extLst>
      <p:ext uri="{BB962C8B-B14F-4D97-AF65-F5344CB8AC3E}">
        <p14:creationId xmlns:p14="http://schemas.microsoft.com/office/powerpoint/2010/main" val="1098277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D74108-0AA4-70A3-F21F-AE96CDF51F2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14ED7F3-FB3F-581D-D2A3-9234FB9B6C8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D526AED-239A-1A47-ABFA-38F9FEC98EE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F1A468F-2F62-F010-E0ED-7DDD969CC77F}"/>
              </a:ext>
            </a:extLst>
          </p:cNvPr>
          <p:cNvSpPr>
            <a:spLocks noGrp="1"/>
          </p:cNvSpPr>
          <p:nvPr>
            <p:ph type="dt" sz="half" idx="10"/>
          </p:nvPr>
        </p:nvSpPr>
        <p:spPr/>
        <p:txBody>
          <a:bodyPr/>
          <a:lstStyle/>
          <a:p>
            <a:fld id="{5FEA9B3C-E2BC-4E82-80BA-995A033337CA}" type="datetimeFigureOut">
              <a:rPr lang="zh-CN" altLang="en-US" smtClean="0"/>
              <a:t>2025/1/6</a:t>
            </a:fld>
            <a:endParaRPr lang="zh-CN" altLang="en-US"/>
          </a:p>
        </p:txBody>
      </p:sp>
      <p:sp>
        <p:nvSpPr>
          <p:cNvPr id="6" name="页脚占位符 5">
            <a:extLst>
              <a:ext uri="{FF2B5EF4-FFF2-40B4-BE49-F238E27FC236}">
                <a16:creationId xmlns:a16="http://schemas.microsoft.com/office/drawing/2014/main" id="{BF1C1830-C8C8-269C-D798-6A50D591DC4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575FCE-BD5B-C43A-39FC-D51F1BB356C3}"/>
              </a:ext>
            </a:extLst>
          </p:cNvPr>
          <p:cNvSpPr>
            <a:spLocks noGrp="1"/>
          </p:cNvSpPr>
          <p:nvPr>
            <p:ph type="sldNum" sz="quarter" idx="12"/>
          </p:nvPr>
        </p:nvSpPr>
        <p:spPr/>
        <p:txBody>
          <a:bodyPr/>
          <a:lstStyle/>
          <a:p>
            <a:fld id="{880452E5-512A-4FC2-AFCA-96ACE6556DD7}" type="slidenum">
              <a:rPr lang="zh-CN" altLang="en-US" smtClean="0"/>
              <a:t>‹#›</a:t>
            </a:fld>
            <a:endParaRPr lang="zh-CN" altLang="en-US"/>
          </a:p>
        </p:txBody>
      </p:sp>
    </p:spTree>
    <p:extLst>
      <p:ext uri="{BB962C8B-B14F-4D97-AF65-F5344CB8AC3E}">
        <p14:creationId xmlns:p14="http://schemas.microsoft.com/office/powerpoint/2010/main" val="343203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DB7995-C1DA-3162-5501-6346A9FAED3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F7A08EE-9F9B-A998-1DF7-9034B5C1A4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05F532E-8F64-6A20-7746-823179167C1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64AA9D2-58EF-81BF-C935-999F876ECA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418605A-B82C-36FD-51DA-5BD6C061867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4AF6762-B433-BBE4-2796-7C03560D48FD}"/>
              </a:ext>
            </a:extLst>
          </p:cNvPr>
          <p:cNvSpPr>
            <a:spLocks noGrp="1"/>
          </p:cNvSpPr>
          <p:nvPr>
            <p:ph type="dt" sz="half" idx="10"/>
          </p:nvPr>
        </p:nvSpPr>
        <p:spPr/>
        <p:txBody>
          <a:bodyPr/>
          <a:lstStyle/>
          <a:p>
            <a:fld id="{5FEA9B3C-E2BC-4E82-80BA-995A033337CA}" type="datetimeFigureOut">
              <a:rPr lang="zh-CN" altLang="en-US" smtClean="0"/>
              <a:t>2025/1/6</a:t>
            </a:fld>
            <a:endParaRPr lang="zh-CN" altLang="en-US"/>
          </a:p>
        </p:txBody>
      </p:sp>
      <p:sp>
        <p:nvSpPr>
          <p:cNvPr id="8" name="页脚占位符 7">
            <a:extLst>
              <a:ext uri="{FF2B5EF4-FFF2-40B4-BE49-F238E27FC236}">
                <a16:creationId xmlns:a16="http://schemas.microsoft.com/office/drawing/2014/main" id="{A5FC2D7F-C921-C7B5-7D48-11FE19D5C5E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04C3E11-37EC-6345-D976-F555C73AA162}"/>
              </a:ext>
            </a:extLst>
          </p:cNvPr>
          <p:cNvSpPr>
            <a:spLocks noGrp="1"/>
          </p:cNvSpPr>
          <p:nvPr>
            <p:ph type="sldNum" sz="quarter" idx="12"/>
          </p:nvPr>
        </p:nvSpPr>
        <p:spPr/>
        <p:txBody>
          <a:bodyPr/>
          <a:lstStyle/>
          <a:p>
            <a:fld id="{880452E5-512A-4FC2-AFCA-96ACE6556DD7}" type="slidenum">
              <a:rPr lang="zh-CN" altLang="en-US" smtClean="0"/>
              <a:t>‹#›</a:t>
            </a:fld>
            <a:endParaRPr lang="zh-CN" altLang="en-US"/>
          </a:p>
        </p:txBody>
      </p:sp>
    </p:spTree>
    <p:extLst>
      <p:ext uri="{BB962C8B-B14F-4D97-AF65-F5344CB8AC3E}">
        <p14:creationId xmlns:p14="http://schemas.microsoft.com/office/powerpoint/2010/main" val="4172871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880148-4781-2A25-CD8C-16F7847BB03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2200DEA-442E-AB15-15A0-4311EB4C4773}"/>
              </a:ext>
            </a:extLst>
          </p:cNvPr>
          <p:cNvSpPr>
            <a:spLocks noGrp="1"/>
          </p:cNvSpPr>
          <p:nvPr>
            <p:ph type="dt" sz="half" idx="10"/>
          </p:nvPr>
        </p:nvSpPr>
        <p:spPr/>
        <p:txBody>
          <a:bodyPr/>
          <a:lstStyle/>
          <a:p>
            <a:fld id="{5FEA9B3C-E2BC-4E82-80BA-995A033337CA}" type="datetimeFigureOut">
              <a:rPr lang="zh-CN" altLang="en-US" smtClean="0"/>
              <a:t>2025/1/6</a:t>
            </a:fld>
            <a:endParaRPr lang="zh-CN" altLang="en-US"/>
          </a:p>
        </p:txBody>
      </p:sp>
      <p:sp>
        <p:nvSpPr>
          <p:cNvPr id="4" name="页脚占位符 3">
            <a:extLst>
              <a:ext uri="{FF2B5EF4-FFF2-40B4-BE49-F238E27FC236}">
                <a16:creationId xmlns:a16="http://schemas.microsoft.com/office/drawing/2014/main" id="{D4642166-5594-76D5-8B7F-4E328638CD6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A27F313-1648-B0C1-4A83-D777B73D06D7}"/>
              </a:ext>
            </a:extLst>
          </p:cNvPr>
          <p:cNvSpPr>
            <a:spLocks noGrp="1"/>
          </p:cNvSpPr>
          <p:nvPr>
            <p:ph type="sldNum" sz="quarter" idx="12"/>
          </p:nvPr>
        </p:nvSpPr>
        <p:spPr/>
        <p:txBody>
          <a:bodyPr/>
          <a:lstStyle/>
          <a:p>
            <a:fld id="{880452E5-512A-4FC2-AFCA-96ACE6556DD7}" type="slidenum">
              <a:rPr lang="zh-CN" altLang="en-US" smtClean="0"/>
              <a:t>‹#›</a:t>
            </a:fld>
            <a:endParaRPr lang="zh-CN" altLang="en-US"/>
          </a:p>
        </p:txBody>
      </p:sp>
    </p:spTree>
    <p:extLst>
      <p:ext uri="{BB962C8B-B14F-4D97-AF65-F5344CB8AC3E}">
        <p14:creationId xmlns:p14="http://schemas.microsoft.com/office/powerpoint/2010/main" val="709510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F559E9D-0641-DBCF-630F-9BFC45C52CA2}"/>
              </a:ext>
            </a:extLst>
          </p:cNvPr>
          <p:cNvSpPr>
            <a:spLocks noGrp="1"/>
          </p:cNvSpPr>
          <p:nvPr>
            <p:ph type="dt" sz="half" idx="10"/>
          </p:nvPr>
        </p:nvSpPr>
        <p:spPr/>
        <p:txBody>
          <a:bodyPr/>
          <a:lstStyle/>
          <a:p>
            <a:fld id="{5FEA9B3C-E2BC-4E82-80BA-995A033337CA}" type="datetimeFigureOut">
              <a:rPr lang="zh-CN" altLang="en-US" smtClean="0"/>
              <a:t>2025/1/6</a:t>
            </a:fld>
            <a:endParaRPr lang="zh-CN" altLang="en-US"/>
          </a:p>
        </p:txBody>
      </p:sp>
      <p:sp>
        <p:nvSpPr>
          <p:cNvPr id="3" name="页脚占位符 2">
            <a:extLst>
              <a:ext uri="{FF2B5EF4-FFF2-40B4-BE49-F238E27FC236}">
                <a16:creationId xmlns:a16="http://schemas.microsoft.com/office/drawing/2014/main" id="{25EA2E87-B926-C2AB-D3FE-48437951332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A3446F1-9B47-EB29-1F5A-E9226447C16F}"/>
              </a:ext>
            </a:extLst>
          </p:cNvPr>
          <p:cNvSpPr>
            <a:spLocks noGrp="1"/>
          </p:cNvSpPr>
          <p:nvPr>
            <p:ph type="sldNum" sz="quarter" idx="12"/>
          </p:nvPr>
        </p:nvSpPr>
        <p:spPr/>
        <p:txBody>
          <a:bodyPr/>
          <a:lstStyle/>
          <a:p>
            <a:fld id="{880452E5-512A-4FC2-AFCA-96ACE6556DD7}" type="slidenum">
              <a:rPr lang="zh-CN" altLang="en-US" smtClean="0"/>
              <a:t>‹#›</a:t>
            </a:fld>
            <a:endParaRPr lang="zh-CN" altLang="en-US"/>
          </a:p>
        </p:txBody>
      </p:sp>
    </p:spTree>
    <p:extLst>
      <p:ext uri="{BB962C8B-B14F-4D97-AF65-F5344CB8AC3E}">
        <p14:creationId xmlns:p14="http://schemas.microsoft.com/office/powerpoint/2010/main" val="2560450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871795-79D2-32E7-396F-A60172F4CBB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C55294C-E85A-231D-A00E-926AA18714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E3BCCB6-D54C-0E83-16EA-B379516F8C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CC6CE11-95AF-A234-DED9-BC86C3B29C6D}"/>
              </a:ext>
            </a:extLst>
          </p:cNvPr>
          <p:cNvSpPr>
            <a:spLocks noGrp="1"/>
          </p:cNvSpPr>
          <p:nvPr>
            <p:ph type="dt" sz="half" idx="10"/>
          </p:nvPr>
        </p:nvSpPr>
        <p:spPr/>
        <p:txBody>
          <a:bodyPr/>
          <a:lstStyle/>
          <a:p>
            <a:fld id="{5FEA9B3C-E2BC-4E82-80BA-995A033337CA}" type="datetimeFigureOut">
              <a:rPr lang="zh-CN" altLang="en-US" smtClean="0"/>
              <a:t>2025/1/6</a:t>
            </a:fld>
            <a:endParaRPr lang="zh-CN" altLang="en-US"/>
          </a:p>
        </p:txBody>
      </p:sp>
      <p:sp>
        <p:nvSpPr>
          <p:cNvPr id="6" name="页脚占位符 5">
            <a:extLst>
              <a:ext uri="{FF2B5EF4-FFF2-40B4-BE49-F238E27FC236}">
                <a16:creationId xmlns:a16="http://schemas.microsoft.com/office/drawing/2014/main" id="{F37C3D82-CB91-22AD-6A8B-DFE85BB3FD8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130699F-2E6A-ECD2-13DF-61C136DB1FE1}"/>
              </a:ext>
            </a:extLst>
          </p:cNvPr>
          <p:cNvSpPr>
            <a:spLocks noGrp="1"/>
          </p:cNvSpPr>
          <p:nvPr>
            <p:ph type="sldNum" sz="quarter" idx="12"/>
          </p:nvPr>
        </p:nvSpPr>
        <p:spPr/>
        <p:txBody>
          <a:bodyPr/>
          <a:lstStyle/>
          <a:p>
            <a:fld id="{880452E5-512A-4FC2-AFCA-96ACE6556DD7}" type="slidenum">
              <a:rPr lang="zh-CN" altLang="en-US" smtClean="0"/>
              <a:t>‹#›</a:t>
            </a:fld>
            <a:endParaRPr lang="zh-CN" altLang="en-US"/>
          </a:p>
        </p:txBody>
      </p:sp>
    </p:spTree>
    <p:extLst>
      <p:ext uri="{BB962C8B-B14F-4D97-AF65-F5344CB8AC3E}">
        <p14:creationId xmlns:p14="http://schemas.microsoft.com/office/powerpoint/2010/main" val="729265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4F067E-5536-CCC5-5204-482899AF837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06F2E5C-2840-DCB4-059C-10519CA29D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2278441-EDA3-8AC4-6BB2-FDDAC6AC09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03834AE-F05A-639B-77FE-F6EDC376AFD0}"/>
              </a:ext>
            </a:extLst>
          </p:cNvPr>
          <p:cNvSpPr>
            <a:spLocks noGrp="1"/>
          </p:cNvSpPr>
          <p:nvPr>
            <p:ph type="dt" sz="half" idx="10"/>
          </p:nvPr>
        </p:nvSpPr>
        <p:spPr/>
        <p:txBody>
          <a:bodyPr/>
          <a:lstStyle/>
          <a:p>
            <a:fld id="{5FEA9B3C-E2BC-4E82-80BA-995A033337CA}" type="datetimeFigureOut">
              <a:rPr lang="zh-CN" altLang="en-US" smtClean="0"/>
              <a:t>2025/1/6</a:t>
            </a:fld>
            <a:endParaRPr lang="zh-CN" altLang="en-US"/>
          </a:p>
        </p:txBody>
      </p:sp>
      <p:sp>
        <p:nvSpPr>
          <p:cNvPr id="6" name="页脚占位符 5">
            <a:extLst>
              <a:ext uri="{FF2B5EF4-FFF2-40B4-BE49-F238E27FC236}">
                <a16:creationId xmlns:a16="http://schemas.microsoft.com/office/drawing/2014/main" id="{9578395C-22A3-EB60-8CE5-83C754DD74E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AE317A-5FCA-535C-2268-7C7B5F4607FF}"/>
              </a:ext>
            </a:extLst>
          </p:cNvPr>
          <p:cNvSpPr>
            <a:spLocks noGrp="1"/>
          </p:cNvSpPr>
          <p:nvPr>
            <p:ph type="sldNum" sz="quarter" idx="12"/>
          </p:nvPr>
        </p:nvSpPr>
        <p:spPr/>
        <p:txBody>
          <a:bodyPr/>
          <a:lstStyle/>
          <a:p>
            <a:fld id="{880452E5-512A-4FC2-AFCA-96ACE6556DD7}" type="slidenum">
              <a:rPr lang="zh-CN" altLang="en-US" smtClean="0"/>
              <a:t>‹#›</a:t>
            </a:fld>
            <a:endParaRPr lang="zh-CN" altLang="en-US"/>
          </a:p>
        </p:txBody>
      </p:sp>
    </p:spTree>
    <p:extLst>
      <p:ext uri="{BB962C8B-B14F-4D97-AF65-F5344CB8AC3E}">
        <p14:creationId xmlns:p14="http://schemas.microsoft.com/office/powerpoint/2010/main" val="2317294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7721DB-1E70-72CE-7D4F-86AEAC2133D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1162BAC-61B4-1CD3-DBDF-0192A09C4DF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0EBF278-7CB4-7AE7-C78C-1D99281D93C4}"/>
              </a:ext>
            </a:extLst>
          </p:cNvPr>
          <p:cNvSpPr>
            <a:spLocks noGrp="1"/>
          </p:cNvSpPr>
          <p:nvPr>
            <p:ph type="dt" sz="half" idx="10"/>
          </p:nvPr>
        </p:nvSpPr>
        <p:spPr/>
        <p:txBody>
          <a:bodyPr/>
          <a:lstStyle/>
          <a:p>
            <a:fld id="{5FEA9B3C-E2BC-4E82-80BA-995A033337CA}" type="datetimeFigureOut">
              <a:rPr lang="zh-CN" altLang="en-US" smtClean="0"/>
              <a:t>2025/1/6</a:t>
            </a:fld>
            <a:endParaRPr lang="zh-CN" altLang="en-US"/>
          </a:p>
        </p:txBody>
      </p:sp>
      <p:sp>
        <p:nvSpPr>
          <p:cNvPr id="5" name="页脚占位符 4">
            <a:extLst>
              <a:ext uri="{FF2B5EF4-FFF2-40B4-BE49-F238E27FC236}">
                <a16:creationId xmlns:a16="http://schemas.microsoft.com/office/drawing/2014/main" id="{DA470A75-A80D-4779-BA94-98F298305D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B5D4917-803D-139B-577F-5C4B41446BE9}"/>
              </a:ext>
            </a:extLst>
          </p:cNvPr>
          <p:cNvSpPr>
            <a:spLocks noGrp="1"/>
          </p:cNvSpPr>
          <p:nvPr>
            <p:ph type="sldNum" sz="quarter" idx="12"/>
          </p:nvPr>
        </p:nvSpPr>
        <p:spPr/>
        <p:txBody>
          <a:bodyPr/>
          <a:lstStyle/>
          <a:p>
            <a:fld id="{880452E5-512A-4FC2-AFCA-96ACE6556DD7}" type="slidenum">
              <a:rPr lang="zh-CN" altLang="en-US" smtClean="0"/>
              <a:t>‹#›</a:t>
            </a:fld>
            <a:endParaRPr lang="zh-CN" altLang="en-US"/>
          </a:p>
        </p:txBody>
      </p:sp>
    </p:spTree>
    <p:extLst>
      <p:ext uri="{BB962C8B-B14F-4D97-AF65-F5344CB8AC3E}">
        <p14:creationId xmlns:p14="http://schemas.microsoft.com/office/powerpoint/2010/main" val="4241995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872D3C1-FC6F-A0D4-6FD2-8B944B000F3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837D390-E9A4-3970-BC16-1D0660D4FA6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8EF8527-F1F9-7FCE-BC7D-64832E5B1A24}"/>
              </a:ext>
            </a:extLst>
          </p:cNvPr>
          <p:cNvSpPr>
            <a:spLocks noGrp="1"/>
          </p:cNvSpPr>
          <p:nvPr>
            <p:ph type="dt" sz="half" idx="10"/>
          </p:nvPr>
        </p:nvSpPr>
        <p:spPr/>
        <p:txBody>
          <a:bodyPr/>
          <a:lstStyle/>
          <a:p>
            <a:fld id="{5FEA9B3C-E2BC-4E82-80BA-995A033337CA}" type="datetimeFigureOut">
              <a:rPr lang="zh-CN" altLang="en-US" smtClean="0"/>
              <a:t>2025/1/6</a:t>
            </a:fld>
            <a:endParaRPr lang="zh-CN" altLang="en-US"/>
          </a:p>
        </p:txBody>
      </p:sp>
      <p:sp>
        <p:nvSpPr>
          <p:cNvPr id="5" name="页脚占位符 4">
            <a:extLst>
              <a:ext uri="{FF2B5EF4-FFF2-40B4-BE49-F238E27FC236}">
                <a16:creationId xmlns:a16="http://schemas.microsoft.com/office/drawing/2014/main" id="{9346B026-2352-1BF5-2CB7-61490BB2E4F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F40769-F321-1BC8-6A99-CB9F819D2DA8}"/>
              </a:ext>
            </a:extLst>
          </p:cNvPr>
          <p:cNvSpPr>
            <a:spLocks noGrp="1"/>
          </p:cNvSpPr>
          <p:nvPr>
            <p:ph type="sldNum" sz="quarter" idx="12"/>
          </p:nvPr>
        </p:nvSpPr>
        <p:spPr/>
        <p:txBody>
          <a:bodyPr/>
          <a:lstStyle/>
          <a:p>
            <a:fld id="{880452E5-512A-4FC2-AFCA-96ACE6556DD7}" type="slidenum">
              <a:rPr lang="zh-CN" altLang="en-US" smtClean="0"/>
              <a:t>‹#›</a:t>
            </a:fld>
            <a:endParaRPr lang="zh-CN" altLang="en-US"/>
          </a:p>
        </p:txBody>
      </p:sp>
    </p:spTree>
    <p:extLst>
      <p:ext uri="{BB962C8B-B14F-4D97-AF65-F5344CB8AC3E}">
        <p14:creationId xmlns:p14="http://schemas.microsoft.com/office/powerpoint/2010/main" val="3158451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和竖排文字">
    <p:spTree>
      <p:nvGrpSpPr>
        <p:cNvPr id="1" name=""/>
        <p:cNvGrpSpPr/>
        <p:nvPr/>
      </p:nvGrpSpPr>
      <p:grpSpPr>
        <a:xfrm>
          <a:off x="0" y="0"/>
          <a:ext cx="0" cy="0"/>
          <a:chOff x="0" y="0"/>
          <a:chExt cx="0" cy="0"/>
        </a:xfrm>
      </p:grpSpPr>
      <p:sp>
        <p:nvSpPr>
          <p:cNvPr id="7" name="矩形 6"/>
          <p:cNvSpPr/>
          <p:nvPr/>
        </p:nvSpPr>
        <p:spPr>
          <a:xfrm>
            <a:off x="9857015" y="571495"/>
            <a:ext cx="2334985" cy="179614"/>
          </a:xfrm>
          <a:prstGeom prst="rect">
            <a:avLst/>
          </a:prstGeom>
          <a:solidFill>
            <a:srgbClr val="24569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cxnSp>
        <p:nvCxnSpPr>
          <p:cNvPr id="9" name="直接连接符 8"/>
          <p:cNvCxnSpPr/>
          <p:nvPr/>
        </p:nvCxnSpPr>
        <p:spPr>
          <a:xfrm>
            <a:off x="0" y="751109"/>
            <a:ext cx="12192000" cy="0"/>
          </a:xfrm>
          <a:prstGeom prst="line">
            <a:avLst/>
          </a:prstGeom>
          <a:ln>
            <a:solidFill>
              <a:srgbClr val="2456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380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400"/>
                                        <p:tgtEl>
                                          <p:spTgt spid="7"/>
                                        </p:tgtEl>
                                      </p:cBhvr>
                                    </p:animEffect>
                                  </p:childTnLst>
                                </p:cTn>
                              </p:par>
                              <p:par>
                                <p:cTn id="8" presetID="22" presetClass="entr" presetSubtype="2"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D6884EE-2655-7062-AF22-8AB82E41B5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701C01B-BCE4-AEE0-F163-A1A45C7D5A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6C0B444-4694-8A7E-517B-F024D26CD0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EA9B3C-E2BC-4E82-80BA-995A033337CA}" type="datetimeFigureOut">
              <a:rPr lang="zh-CN" altLang="en-US" smtClean="0"/>
              <a:t>2025/1/6</a:t>
            </a:fld>
            <a:endParaRPr lang="zh-CN" altLang="en-US"/>
          </a:p>
        </p:txBody>
      </p:sp>
      <p:sp>
        <p:nvSpPr>
          <p:cNvPr id="5" name="页脚占位符 4">
            <a:extLst>
              <a:ext uri="{FF2B5EF4-FFF2-40B4-BE49-F238E27FC236}">
                <a16:creationId xmlns:a16="http://schemas.microsoft.com/office/drawing/2014/main" id="{711597A6-E3C8-6E11-221D-1840F398F4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246E7AB-A1C2-16FE-D4FC-9C190F525B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0452E5-512A-4FC2-AFCA-96ACE6556DD7}" type="slidenum">
              <a:rPr lang="zh-CN" altLang="en-US" smtClean="0"/>
              <a:t>‹#›</a:t>
            </a:fld>
            <a:endParaRPr lang="zh-CN" altLang="en-US"/>
          </a:p>
        </p:txBody>
      </p:sp>
    </p:spTree>
    <p:extLst>
      <p:ext uri="{BB962C8B-B14F-4D97-AF65-F5344CB8AC3E}">
        <p14:creationId xmlns:p14="http://schemas.microsoft.com/office/powerpoint/2010/main" val="742866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1F6AB-DDCE-843A-1EE6-55F84E48118D}"/>
            </a:ext>
          </a:extLst>
        </p:cNvPr>
        <p:cNvGrpSpPr/>
        <p:nvPr/>
      </p:nvGrpSpPr>
      <p:grpSpPr>
        <a:xfrm>
          <a:off x="0" y="0"/>
          <a:ext cx="0" cy="0"/>
          <a:chOff x="0" y="0"/>
          <a:chExt cx="0" cy="0"/>
        </a:xfrm>
      </p:grpSpPr>
      <p:sp>
        <p:nvSpPr>
          <p:cNvPr id="28" name="矩形 27">
            <a:extLst>
              <a:ext uri="{FF2B5EF4-FFF2-40B4-BE49-F238E27FC236}">
                <a16:creationId xmlns:a16="http://schemas.microsoft.com/office/drawing/2014/main" id="{6F4FE4D5-D337-7296-F641-323A4F9200D9}"/>
              </a:ext>
            </a:extLst>
          </p:cNvPr>
          <p:cNvSpPr/>
          <p:nvPr/>
        </p:nvSpPr>
        <p:spPr>
          <a:xfrm>
            <a:off x="0" y="6450875"/>
            <a:ext cx="12192000" cy="407125"/>
          </a:xfrm>
          <a:prstGeom prst="rect">
            <a:avLst/>
          </a:prstGeom>
          <a:solidFill>
            <a:srgbClr val="24569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C0FAA5C8-86C6-762E-C902-9C8B0C9D78CF}"/>
              </a:ext>
            </a:extLst>
          </p:cNvPr>
          <p:cNvSpPr txBox="1"/>
          <p:nvPr/>
        </p:nvSpPr>
        <p:spPr>
          <a:xfrm>
            <a:off x="451828" y="157533"/>
            <a:ext cx="3877985" cy="461665"/>
          </a:xfrm>
          <a:prstGeom prst="rect">
            <a:avLst/>
          </a:prstGeom>
          <a:noFill/>
        </p:spPr>
        <p:txBody>
          <a:bodyPr wrap="none" rtlCol="0">
            <a:spAutoFit/>
          </a:bodyPr>
          <a:lstStyle/>
          <a:p>
            <a:r>
              <a:rPr lang="zh-CN" altLang="en-US" sz="2400" dirty="0"/>
              <a:t>药物于靶标相互作用的原理</a:t>
            </a:r>
          </a:p>
        </p:txBody>
      </p:sp>
      <p:sp>
        <p:nvSpPr>
          <p:cNvPr id="51" name="文本框 50">
            <a:extLst>
              <a:ext uri="{FF2B5EF4-FFF2-40B4-BE49-F238E27FC236}">
                <a16:creationId xmlns:a16="http://schemas.microsoft.com/office/drawing/2014/main" id="{D1D10A4C-999B-E712-2514-9F00CCC881C4}"/>
              </a:ext>
            </a:extLst>
          </p:cNvPr>
          <p:cNvSpPr txBox="1"/>
          <p:nvPr/>
        </p:nvSpPr>
        <p:spPr>
          <a:xfrm>
            <a:off x="6569070" y="1597729"/>
            <a:ext cx="4900490" cy="3662541"/>
          </a:xfrm>
          <a:prstGeom prst="rect">
            <a:avLst/>
          </a:prstGeom>
          <a:noFill/>
        </p:spPr>
        <p:txBody>
          <a:bodyPr wrap="square">
            <a:spAutoFit/>
          </a:bodyPr>
          <a:lstStyle/>
          <a:p>
            <a:endParaRPr lang="en-US" altLang="zh-CN" sz="1800" kern="100" dirty="0">
              <a:effectLst/>
              <a:ea typeface="宋体" panose="02010600030101010101" pitchFamily="2" charset="-122"/>
              <a:cs typeface="宋体" panose="02010600030101010101" pitchFamily="2" charset="-122"/>
            </a:endParaRPr>
          </a:p>
          <a:p>
            <a:r>
              <a:rPr lang="zh-CN" altLang="en-US" b="1" i="0" dirty="0">
                <a:solidFill>
                  <a:srgbClr val="060607"/>
                </a:solidFill>
                <a:effectLst/>
                <a:latin typeface="-apple-system"/>
              </a:rPr>
              <a:t>保守残基</a:t>
            </a:r>
            <a:r>
              <a:rPr lang="zh-CN" altLang="en-US" b="0" i="0" dirty="0">
                <a:solidFill>
                  <a:srgbClr val="060607"/>
                </a:solidFill>
                <a:effectLst/>
                <a:latin typeface="-apple-system"/>
              </a:rPr>
              <a:t>在这一过程中扮演着至关重要的角色，它们与药物设计和药物作用机制紧密相关。</a:t>
            </a:r>
            <a:endParaRPr lang="en-US" altLang="zh-CN" b="0" i="0" dirty="0">
              <a:solidFill>
                <a:srgbClr val="060607"/>
              </a:solidFill>
              <a:effectLst/>
              <a:latin typeface="-apple-system"/>
            </a:endParaRPr>
          </a:p>
          <a:p>
            <a:br>
              <a:rPr lang="en-US" altLang="zh-CN" b="0" i="0" dirty="0">
                <a:solidFill>
                  <a:srgbClr val="060607"/>
                </a:solidFill>
                <a:effectLst/>
                <a:latin typeface="-apple-system"/>
              </a:rPr>
            </a:br>
            <a:r>
              <a:rPr lang="zh-CN" altLang="en-US" b="0" i="0" dirty="0">
                <a:solidFill>
                  <a:srgbClr val="060607"/>
                </a:solidFill>
                <a:effectLst/>
                <a:latin typeface="-apple-system"/>
              </a:rPr>
              <a:t>保守残基通常是蛋白质结构中的关键组成部分，</a:t>
            </a:r>
            <a:r>
              <a:rPr lang="zh-CN" altLang="en-US" b="1" i="0" dirty="0">
                <a:solidFill>
                  <a:srgbClr val="060607"/>
                </a:solidFill>
                <a:effectLst/>
                <a:latin typeface="-apple-system"/>
              </a:rPr>
              <a:t>药物分子需要与这些保守区域相互作用，以稳定地结合并发挥其生物学效应。</a:t>
            </a:r>
            <a:endParaRPr lang="en-US" altLang="zh-CN" b="1" i="0" dirty="0">
              <a:solidFill>
                <a:srgbClr val="060607"/>
              </a:solidFill>
              <a:effectLst/>
              <a:latin typeface="-apple-system"/>
            </a:endParaRPr>
          </a:p>
          <a:p>
            <a:endParaRPr lang="en-US" altLang="zh-CN" b="1" kern="100" dirty="0">
              <a:latin typeface="宋体" panose="02010600030101010101" pitchFamily="2" charset="-122"/>
              <a:ea typeface="宋体" panose="02010600030101010101" pitchFamily="2" charset="-122"/>
            </a:endParaRPr>
          </a:p>
          <a:p>
            <a:r>
              <a:rPr lang="zh-CN" altLang="en-US" b="1" kern="100" dirty="0">
                <a:latin typeface="+mn-ea"/>
              </a:rPr>
              <a:t>如何对蛋白质细致的特征提取和药物蛋白质的局部相互作用的建模是关键</a:t>
            </a:r>
            <a:endParaRPr lang="en-US" altLang="zh-CN" b="1" kern="100" dirty="0">
              <a:latin typeface="+mn-ea"/>
            </a:endParaRPr>
          </a:p>
          <a:p>
            <a:endParaRPr lang="en-US" altLang="zh-CN" b="1" kern="100" dirty="0">
              <a:latin typeface="+mn-ea"/>
            </a:endParaRPr>
          </a:p>
          <a:p>
            <a:br>
              <a:rPr lang="en-US" altLang="zh-CN" kern="100" dirty="0">
                <a:latin typeface="+mn-ea"/>
              </a:rPr>
            </a:br>
            <a:endParaRPr lang="en-US" altLang="zh-CN" sz="1600" kern="100" dirty="0">
              <a:effectLst/>
              <a:latin typeface="+mn-ea"/>
            </a:endParaRPr>
          </a:p>
        </p:txBody>
      </p:sp>
      <p:sp>
        <p:nvSpPr>
          <p:cNvPr id="6" name="箭头: 下 5">
            <a:extLst>
              <a:ext uri="{FF2B5EF4-FFF2-40B4-BE49-F238E27FC236}">
                <a16:creationId xmlns:a16="http://schemas.microsoft.com/office/drawing/2014/main" id="{536F0B4F-44EF-9CD7-8F8B-F86DF78154C2}"/>
              </a:ext>
            </a:extLst>
          </p:cNvPr>
          <p:cNvSpPr/>
          <p:nvPr/>
        </p:nvSpPr>
        <p:spPr>
          <a:xfrm>
            <a:off x="2646363" y="3239058"/>
            <a:ext cx="240146" cy="379884"/>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6FABDC16-5BA3-AE18-54AD-0BE1F717D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599" y="1010188"/>
            <a:ext cx="4257675" cy="2057400"/>
          </a:xfrm>
          <a:prstGeom prst="rect">
            <a:avLst/>
          </a:prstGeom>
        </p:spPr>
      </p:pic>
      <p:pic>
        <p:nvPicPr>
          <p:cNvPr id="9" name="图片 8">
            <a:extLst>
              <a:ext uri="{FF2B5EF4-FFF2-40B4-BE49-F238E27FC236}">
                <a16:creationId xmlns:a16="http://schemas.microsoft.com/office/drawing/2014/main" id="{0A6FD54C-7BAB-B13F-F2B6-337B893D4D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508" y="3785689"/>
            <a:ext cx="4709856" cy="1947083"/>
          </a:xfrm>
          <a:prstGeom prst="rect">
            <a:avLst/>
          </a:prstGeom>
        </p:spPr>
      </p:pic>
    </p:spTree>
    <p:extLst>
      <p:ext uri="{BB962C8B-B14F-4D97-AF65-F5344CB8AC3E}">
        <p14:creationId xmlns:p14="http://schemas.microsoft.com/office/powerpoint/2010/main" val="281170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681CF-5F3A-73AF-E154-0AD26B794106}"/>
            </a:ext>
          </a:extLst>
        </p:cNvPr>
        <p:cNvGrpSpPr/>
        <p:nvPr/>
      </p:nvGrpSpPr>
      <p:grpSpPr>
        <a:xfrm>
          <a:off x="0" y="0"/>
          <a:ext cx="0" cy="0"/>
          <a:chOff x="0" y="0"/>
          <a:chExt cx="0" cy="0"/>
        </a:xfrm>
      </p:grpSpPr>
      <p:sp>
        <p:nvSpPr>
          <p:cNvPr id="28" name="矩形 27">
            <a:extLst>
              <a:ext uri="{FF2B5EF4-FFF2-40B4-BE49-F238E27FC236}">
                <a16:creationId xmlns:a16="http://schemas.microsoft.com/office/drawing/2014/main" id="{395456A2-C3E0-E06D-CB64-66CD5BE9AD8D}"/>
              </a:ext>
            </a:extLst>
          </p:cNvPr>
          <p:cNvSpPr/>
          <p:nvPr/>
        </p:nvSpPr>
        <p:spPr>
          <a:xfrm>
            <a:off x="0" y="6450875"/>
            <a:ext cx="12192000" cy="407125"/>
          </a:xfrm>
          <a:prstGeom prst="rect">
            <a:avLst/>
          </a:prstGeom>
          <a:solidFill>
            <a:srgbClr val="24569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0AD85F1F-1A1E-462C-C0E8-897C7AEB2867}"/>
              </a:ext>
            </a:extLst>
          </p:cNvPr>
          <p:cNvSpPr txBox="1"/>
          <p:nvPr/>
        </p:nvSpPr>
        <p:spPr>
          <a:xfrm>
            <a:off x="451828" y="157533"/>
            <a:ext cx="1415772" cy="461665"/>
          </a:xfrm>
          <a:prstGeom prst="rect">
            <a:avLst/>
          </a:prstGeom>
          <a:noFill/>
        </p:spPr>
        <p:txBody>
          <a:bodyPr wrap="none" rtlCol="0">
            <a:spAutoFit/>
          </a:bodyPr>
          <a:lstStyle/>
          <a:p>
            <a:r>
              <a:rPr lang="zh-CN" altLang="en-US" sz="2400" dirty="0"/>
              <a:t>研究近况</a:t>
            </a:r>
          </a:p>
        </p:txBody>
      </p:sp>
      <p:sp>
        <p:nvSpPr>
          <p:cNvPr id="8" name="文本框 7">
            <a:extLst>
              <a:ext uri="{FF2B5EF4-FFF2-40B4-BE49-F238E27FC236}">
                <a16:creationId xmlns:a16="http://schemas.microsoft.com/office/drawing/2014/main" id="{67666637-4E3A-AFE7-F17E-E8F970779F90}"/>
              </a:ext>
            </a:extLst>
          </p:cNvPr>
          <p:cNvSpPr txBox="1"/>
          <p:nvPr/>
        </p:nvSpPr>
        <p:spPr>
          <a:xfrm>
            <a:off x="1077191" y="1222260"/>
            <a:ext cx="10037618" cy="3970318"/>
          </a:xfrm>
          <a:prstGeom prst="rect">
            <a:avLst/>
          </a:prstGeom>
          <a:noFill/>
        </p:spPr>
        <p:txBody>
          <a:bodyPr wrap="square">
            <a:spAutoFit/>
          </a:bodyPr>
          <a:lstStyle/>
          <a:p>
            <a:r>
              <a:rPr lang="en-US" altLang="zh-CN" b="1" dirty="0">
                <a:latin typeface="-apple-system"/>
              </a:rPr>
              <a:t>1</a:t>
            </a:r>
            <a:r>
              <a:rPr lang="en-US" altLang="zh-CN" b="1" i="0" dirty="0">
                <a:effectLst/>
                <a:latin typeface="-apple-system"/>
              </a:rPr>
              <a:t>.</a:t>
            </a:r>
            <a:r>
              <a:rPr lang="zh-CN" altLang="en-US" b="1" i="0" dirty="0">
                <a:effectLst/>
                <a:latin typeface="-apple-system"/>
              </a:rPr>
              <a:t>蛋白质特征的提取：</a:t>
            </a:r>
            <a:endParaRPr lang="en-US" altLang="zh-CN" b="1" i="0" dirty="0">
              <a:effectLst/>
              <a:latin typeface="-apple-system"/>
            </a:endParaRPr>
          </a:p>
          <a:p>
            <a:r>
              <a:rPr lang="zh-CN" altLang="en-US" i="0" dirty="0">
                <a:effectLst/>
                <a:latin typeface="-apple-system"/>
              </a:rPr>
              <a:t>卷积神经网络（</a:t>
            </a:r>
            <a:r>
              <a:rPr lang="en-US" altLang="zh-CN" i="0" dirty="0">
                <a:effectLst/>
                <a:latin typeface="-apple-system"/>
              </a:rPr>
              <a:t>CNN</a:t>
            </a:r>
            <a:r>
              <a:rPr lang="zh-CN" altLang="en-US" dirty="0">
                <a:latin typeface="-apple-system"/>
              </a:rPr>
              <a:t>）</a:t>
            </a:r>
            <a:r>
              <a:rPr lang="zh-CN" altLang="en-US" b="0" i="0" dirty="0">
                <a:effectLst/>
                <a:latin typeface="-apple-system"/>
              </a:rPr>
              <a:t>被广泛用来根据序列获得蛋白质特征。</a:t>
            </a:r>
            <a:r>
              <a:rPr lang="zh-CN" altLang="en-US" i="0" dirty="0">
                <a:effectLst/>
                <a:latin typeface="-apple-system"/>
              </a:rPr>
              <a:t>如</a:t>
            </a:r>
            <a:r>
              <a:rPr lang="en-US" altLang="zh-CN" b="0" i="0" dirty="0" err="1">
                <a:solidFill>
                  <a:srgbClr val="060607"/>
                </a:solidFill>
                <a:effectLst/>
                <a:latin typeface="-apple-system"/>
              </a:rPr>
              <a:t>TransformerCPI</a:t>
            </a:r>
            <a:r>
              <a:rPr lang="zh-CN" altLang="en-US" b="0" i="0" dirty="0">
                <a:solidFill>
                  <a:srgbClr val="060607"/>
                </a:solidFill>
                <a:effectLst/>
                <a:latin typeface="-apple-system"/>
              </a:rPr>
              <a:t>（</a:t>
            </a:r>
            <a:r>
              <a:rPr lang="en-US" altLang="zh-CN" b="0" i="0" dirty="0">
                <a:solidFill>
                  <a:srgbClr val="060607"/>
                </a:solidFill>
                <a:effectLst/>
                <a:latin typeface="-apple-system"/>
              </a:rPr>
              <a:t>2020</a:t>
            </a:r>
            <a:r>
              <a:rPr lang="zh-CN" altLang="en-US" b="0" i="0" dirty="0">
                <a:solidFill>
                  <a:srgbClr val="060607"/>
                </a:solidFill>
                <a:effectLst/>
                <a:latin typeface="-apple-system"/>
              </a:rPr>
              <a:t>），使用</a:t>
            </a:r>
            <a:r>
              <a:rPr lang="en-US" altLang="zh-CN" b="0" i="0" dirty="0">
                <a:solidFill>
                  <a:srgbClr val="060607"/>
                </a:solidFill>
                <a:effectLst/>
                <a:latin typeface="-apple-system"/>
              </a:rPr>
              <a:t>1D</a:t>
            </a:r>
            <a:r>
              <a:rPr lang="zh-CN" altLang="en-US" b="0" i="0" dirty="0">
                <a:solidFill>
                  <a:srgbClr val="060607"/>
                </a:solidFill>
                <a:effectLst/>
                <a:latin typeface="-apple-system"/>
              </a:rPr>
              <a:t>卷积（</a:t>
            </a:r>
            <a:r>
              <a:rPr lang="en-US" altLang="zh-CN" b="0" i="0" dirty="0">
                <a:solidFill>
                  <a:srgbClr val="060607"/>
                </a:solidFill>
                <a:effectLst/>
                <a:latin typeface="-apple-system"/>
              </a:rPr>
              <a:t>Conv1D</a:t>
            </a:r>
            <a:r>
              <a:rPr lang="zh-CN" altLang="en-US" b="0" i="0" dirty="0">
                <a:solidFill>
                  <a:srgbClr val="060607"/>
                </a:solidFill>
                <a:effectLst/>
                <a:latin typeface="-apple-system"/>
              </a:rPr>
              <a:t>）和门控线性单元（</a:t>
            </a:r>
            <a:r>
              <a:rPr lang="en-US" altLang="zh-CN" b="0" i="0" dirty="0">
                <a:solidFill>
                  <a:srgbClr val="060607"/>
                </a:solidFill>
                <a:effectLst/>
                <a:latin typeface="-apple-system"/>
              </a:rPr>
              <a:t>Gated Linear Unit</a:t>
            </a:r>
            <a:r>
              <a:rPr lang="zh-CN" altLang="en-US" b="0" i="0" dirty="0">
                <a:solidFill>
                  <a:srgbClr val="060607"/>
                </a:solidFill>
                <a:effectLst/>
                <a:latin typeface="-apple-system"/>
              </a:rPr>
              <a:t>）来学习蛋白质序列的特征表示，</a:t>
            </a:r>
            <a:r>
              <a:rPr lang="zh-CN" altLang="en-US" b="0" i="0" dirty="0">
                <a:effectLst/>
                <a:latin typeface="-apple-system"/>
              </a:rPr>
              <a:t>最新研究中将注意力机制</a:t>
            </a:r>
            <a:r>
              <a:rPr lang="zh-CN" altLang="en-US" dirty="0">
                <a:latin typeface="-apple-system"/>
              </a:rPr>
              <a:t>应用于</a:t>
            </a:r>
            <a:r>
              <a:rPr lang="zh-CN" altLang="en-US" b="0" i="0" dirty="0">
                <a:effectLst/>
                <a:latin typeface="-apple-system"/>
              </a:rPr>
              <a:t>对蛋白质序列进行更细节的提取，如</a:t>
            </a:r>
            <a:r>
              <a:rPr lang="en-US" altLang="zh-CN" b="0" i="0" dirty="0">
                <a:effectLst/>
                <a:latin typeface="-apple-system"/>
              </a:rPr>
              <a:t>BINDTI</a:t>
            </a:r>
            <a:r>
              <a:rPr lang="zh-CN" altLang="en-US" b="0" i="0" dirty="0">
                <a:effectLst/>
                <a:latin typeface="-apple-system"/>
              </a:rPr>
              <a:t>（</a:t>
            </a:r>
            <a:r>
              <a:rPr lang="en-US" altLang="zh-CN" b="0" i="0" dirty="0">
                <a:effectLst/>
                <a:latin typeface="-apple-system"/>
              </a:rPr>
              <a:t>2024</a:t>
            </a:r>
            <a:r>
              <a:rPr lang="zh-CN" altLang="en-US" b="0" i="0" dirty="0">
                <a:effectLst/>
                <a:latin typeface="-apple-system"/>
              </a:rPr>
              <a:t>）使用了混合模块</a:t>
            </a:r>
            <a:r>
              <a:rPr lang="en-US" altLang="zh-CN" b="0" i="0" dirty="0" err="1">
                <a:effectLst/>
                <a:latin typeface="-apple-system"/>
              </a:rPr>
              <a:t>Acmix</a:t>
            </a:r>
            <a:r>
              <a:rPr lang="zh-CN" altLang="en-US" dirty="0">
                <a:latin typeface="-apple-system"/>
              </a:rPr>
              <a:t>（</a:t>
            </a:r>
            <a:r>
              <a:rPr lang="en-US" altLang="zh-CN" dirty="0">
                <a:latin typeface="-apple-system"/>
              </a:rPr>
              <a:t>cvpr2022</a:t>
            </a:r>
            <a:r>
              <a:rPr lang="zh-CN" altLang="en-US" dirty="0">
                <a:latin typeface="-apple-system"/>
              </a:rPr>
              <a:t>）</a:t>
            </a:r>
            <a:r>
              <a:rPr lang="en-US" altLang="zh-CN" b="0" i="0" dirty="0">
                <a:effectLst/>
                <a:latin typeface="-apple-system"/>
              </a:rPr>
              <a:t>,</a:t>
            </a:r>
            <a:r>
              <a:rPr lang="zh-CN" altLang="en-US" b="0" i="0" dirty="0">
                <a:effectLst/>
                <a:latin typeface="-apple-system"/>
              </a:rPr>
              <a:t>它</a:t>
            </a:r>
            <a:r>
              <a:rPr lang="zh-CN" altLang="en-US" dirty="0">
                <a:latin typeface="-apple-system"/>
              </a:rPr>
              <a:t>集成了</a:t>
            </a:r>
            <a:r>
              <a:rPr lang="en-US" altLang="zh-CN" dirty="0">
                <a:latin typeface="-apple-system"/>
              </a:rPr>
              <a:t>CNN</a:t>
            </a:r>
            <a:r>
              <a:rPr lang="zh-CN" altLang="en-US" dirty="0">
                <a:latin typeface="-apple-system"/>
              </a:rPr>
              <a:t>和自注意力机制来对蛋白质特征进行更加细节的提取。</a:t>
            </a:r>
            <a:r>
              <a:rPr lang="zh-CN" altLang="en-US" b="1" i="0" dirty="0">
                <a:effectLst/>
                <a:latin typeface="-apple-system"/>
              </a:rPr>
              <a:t>然而，传统的卷积神经网络（</a:t>
            </a:r>
            <a:r>
              <a:rPr lang="en-US" altLang="zh-CN" b="1" i="0" dirty="0">
                <a:effectLst/>
                <a:latin typeface="-apple-system"/>
              </a:rPr>
              <a:t>CNN</a:t>
            </a:r>
            <a:r>
              <a:rPr lang="zh-CN" altLang="en-US" b="1" i="0" dirty="0">
                <a:effectLst/>
                <a:latin typeface="-apple-system"/>
              </a:rPr>
              <a:t>）由于固定的采样位置无法有效捕捉到蛋白质序列中复杂和多变的模式，因为蛋白质的功能和结构往往由序列中分散的、非连续的关键保守残基决定。</a:t>
            </a:r>
            <a:endParaRPr lang="en-US" altLang="zh-CN" b="1" i="0" dirty="0">
              <a:effectLst/>
              <a:latin typeface="-apple-system"/>
            </a:endParaRPr>
          </a:p>
          <a:p>
            <a:endParaRPr lang="en-US" altLang="zh-CN" dirty="0">
              <a:latin typeface="-apple-system"/>
            </a:endParaRPr>
          </a:p>
          <a:p>
            <a:endParaRPr lang="en-US" altLang="zh-CN" b="0" i="0" dirty="0">
              <a:effectLst/>
              <a:latin typeface="-apple-system"/>
            </a:endParaRPr>
          </a:p>
          <a:p>
            <a:r>
              <a:rPr lang="en-US" altLang="zh-CN" b="0" i="0" dirty="0">
                <a:effectLst/>
                <a:latin typeface="-apple-system"/>
              </a:rPr>
              <a:t>2.</a:t>
            </a:r>
            <a:r>
              <a:rPr lang="zh-CN" altLang="en-US" b="1" i="0" dirty="0">
                <a:effectLst/>
                <a:latin typeface="-apple-system"/>
              </a:rPr>
              <a:t>局部相互作用的建模</a:t>
            </a:r>
            <a:r>
              <a:rPr lang="zh-CN" altLang="en-US" b="0" i="0" dirty="0">
                <a:effectLst/>
                <a:latin typeface="-apple-system"/>
              </a:rPr>
              <a:t>：</a:t>
            </a:r>
            <a:endParaRPr lang="en-US" altLang="zh-CN" b="0" i="0" dirty="0">
              <a:effectLst/>
              <a:latin typeface="-apple-system"/>
            </a:endParaRPr>
          </a:p>
          <a:p>
            <a:r>
              <a:rPr lang="zh-CN" altLang="en-US" b="0" i="0" dirty="0">
                <a:effectLst/>
                <a:latin typeface="-apple-system"/>
              </a:rPr>
              <a:t>最新研究基于双向注意力机制融合药物和靶点特征。如</a:t>
            </a:r>
            <a:r>
              <a:rPr lang="en-US" altLang="zh-CN" b="0" i="0" dirty="0">
                <a:effectLst/>
                <a:latin typeface="-apple-system"/>
              </a:rPr>
              <a:t>MCANet </a:t>
            </a:r>
            <a:r>
              <a:rPr lang="zh-CN" altLang="en-US" b="0" i="0" dirty="0">
                <a:effectLst/>
                <a:latin typeface="-apple-system"/>
              </a:rPr>
              <a:t>（</a:t>
            </a:r>
            <a:r>
              <a:rPr lang="en-US" altLang="zh-CN" b="0" i="0" dirty="0">
                <a:effectLst/>
                <a:latin typeface="-apple-system"/>
              </a:rPr>
              <a:t>2023</a:t>
            </a:r>
            <a:r>
              <a:rPr lang="zh-CN" altLang="en-US" b="0" i="0" dirty="0">
                <a:effectLst/>
                <a:latin typeface="-apple-system"/>
              </a:rPr>
              <a:t>）中应用的多头交叉</a:t>
            </a:r>
            <a:r>
              <a:rPr lang="zh-CN" altLang="en-US" dirty="0">
                <a:latin typeface="-apple-system"/>
              </a:rPr>
              <a:t>自</a:t>
            </a:r>
            <a:r>
              <a:rPr lang="zh-CN" altLang="en-US" b="0" i="0" dirty="0">
                <a:effectLst/>
                <a:latin typeface="-apple-system"/>
              </a:rPr>
              <a:t>注意力机制来建模局部相互作用；</a:t>
            </a:r>
            <a:r>
              <a:rPr lang="en-US" altLang="zh-CN" b="0" i="0" dirty="0">
                <a:effectLst/>
                <a:latin typeface="-apple-system"/>
              </a:rPr>
              <a:t> BINDTI</a:t>
            </a:r>
            <a:r>
              <a:rPr lang="zh-CN" altLang="en-US" b="0" i="0" dirty="0">
                <a:effectLst/>
                <a:latin typeface="-apple-system"/>
              </a:rPr>
              <a:t>（</a:t>
            </a:r>
            <a:r>
              <a:rPr lang="en-US" altLang="zh-CN" b="0" i="0" dirty="0">
                <a:effectLst/>
                <a:latin typeface="-apple-system"/>
              </a:rPr>
              <a:t>2024</a:t>
            </a:r>
            <a:r>
              <a:rPr lang="zh-CN" altLang="en-US" b="0" i="0" dirty="0">
                <a:effectLst/>
                <a:latin typeface="-apple-system"/>
              </a:rPr>
              <a:t>）应用了多头自注意力机制和改进的注意力模块</a:t>
            </a:r>
            <a:r>
              <a:rPr lang="en-US" altLang="zh-CN" b="0" i="0" dirty="0">
                <a:effectLst/>
                <a:latin typeface="-apple-system"/>
              </a:rPr>
              <a:t>Intention</a:t>
            </a:r>
            <a:r>
              <a:rPr lang="zh-CN" altLang="en-US" b="0" i="0" dirty="0">
                <a:effectLst/>
                <a:latin typeface="-apple-system"/>
              </a:rPr>
              <a:t>（</a:t>
            </a:r>
            <a:r>
              <a:rPr lang="en-US" altLang="zh-CN" b="0" i="0" dirty="0" err="1">
                <a:effectLst/>
                <a:latin typeface="-apple-system"/>
              </a:rPr>
              <a:t>cvpr</a:t>
            </a:r>
            <a:r>
              <a:rPr lang="en-US" altLang="zh-CN" b="0" i="0" dirty="0">
                <a:effectLst/>
                <a:latin typeface="-apple-system"/>
              </a:rPr>
              <a:t> 2021</a:t>
            </a:r>
            <a:r>
              <a:rPr lang="zh-CN" altLang="en-US" b="0" i="0" dirty="0">
                <a:effectLst/>
                <a:latin typeface="-apple-system"/>
              </a:rPr>
              <a:t>）来融合药物和靶点特征</a:t>
            </a:r>
            <a:r>
              <a:rPr lang="zh-CN" altLang="en-US" dirty="0">
                <a:latin typeface="-apple-system"/>
              </a:rPr>
              <a:t>双向相互融合</a:t>
            </a:r>
            <a:r>
              <a:rPr lang="zh-CN" altLang="en-US" b="0" i="0" dirty="0">
                <a:effectLst/>
                <a:latin typeface="-apple-system"/>
              </a:rPr>
              <a:t>。</a:t>
            </a:r>
            <a:r>
              <a:rPr lang="zh-CN" altLang="en-US" b="1" i="0" dirty="0">
                <a:effectLst/>
                <a:latin typeface="-apple-system"/>
              </a:rPr>
              <a:t>以上提到的方法对于提取的药物特征和蛋白质特征取进行有了选择性融合，寻找药物蛋白质局部相互作用的高相关特征。</a:t>
            </a:r>
            <a:endParaRPr lang="zh-CN" altLang="en-US" b="1" dirty="0"/>
          </a:p>
        </p:txBody>
      </p:sp>
    </p:spTree>
    <p:extLst>
      <p:ext uri="{BB962C8B-B14F-4D97-AF65-F5344CB8AC3E}">
        <p14:creationId xmlns:p14="http://schemas.microsoft.com/office/powerpoint/2010/main" val="2763533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858F2-E688-E3A3-A3A4-F283AAB4DBA5}"/>
            </a:ext>
          </a:extLst>
        </p:cNvPr>
        <p:cNvGrpSpPr/>
        <p:nvPr/>
      </p:nvGrpSpPr>
      <p:grpSpPr>
        <a:xfrm>
          <a:off x="0" y="0"/>
          <a:ext cx="0" cy="0"/>
          <a:chOff x="0" y="0"/>
          <a:chExt cx="0" cy="0"/>
        </a:xfrm>
      </p:grpSpPr>
      <p:sp>
        <p:nvSpPr>
          <p:cNvPr id="28" name="矩形 27">
            <a:extLst>
              <a:ext uri="{FF2B5EF4-FFF2-40B4-BE49-F238E27FC236}">
                <a16:creationId xmlns:a16="http://schemas.microsoft.com/office/drawing/2014/main" id="{191285A2-5F42-19E6-0E13-9061F5F18CC3}"/>
              </a:ext>
            </a:extLst>
          </p:cNvPr>
          <p:cNvSpPr/>
          <p:nvPr/>
        </p:nvSpPr>
        <p:spPr>
          <a:xfrm>
            <a:off x="0" y="6450875"/>
            <a:ext cx="12192000" cy="407125"/>
          </a:xfrm>
          <a:prstGeom prst="rect">
            <a:avLst/>
          </a:prstGeom>
          <a:solidFill>
            <a:srgbClr val="24569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B845985C-F512-0EE6-E994-71D68A92FBB6}"/>
              </a:ext>
            </a:extLst>
          </p:cNvPr>
          <p:cNvSpPr txBox="1"/>
          <p:nvPr/>
        </p:nvSpPr>
        <p:spPr>
          <a:xfrm>
            <a:off x="160625" y="128551"/>
            <a:ext cx="7218836" cy="461665"/>
          </a:xfrm>
          <a:prstGeom prst="rect">
            <a:avLst/>
          </a:prstGeom>
          <a:noFill/>
        </p:spPr>
        <p:txBody>
          <a:bodyPr wrap="none" rtlCol="0">
            <a:spAutoFit/>
          </a:bodyPr>
          <a:lstStyle/>
          <a:p>
            <a:r>
              <a:rPr lang="en-US" altLang="zh-CN" sz="2400" dirty="0" err="1"/>
              <a:t>LDConv</a:t>
            </a:r>
            <a:r>
              <a:rPr lang="zh-CN" altLang="en-US" sz="2400" dirty="0"/>
              <a:t>：用于改进卷积神经网络的线性可变形卷积</a:t>
            </a:r>
          </a:p>
        </p:txBody>
      </p:sp>
      <p:sp>
        <p:nvSpPr>
          <p:cNvPr id="8" name="文本框 7">
            <a:extLst>
              <a:ext uri="{FF2B5EF4-FFF2-40B4-BE49-F238E27FC236}">
                <a16:creationId xmlns:a16="http://schemas.microsoft.com/office/drawing/2014/main" id="{620E49A7-D16F-6CB6-5A2C-79DCF345E782}"/>
              </a:ext>
            </a:extLst>
          </p:cNvPr>
          <p:cNvSpPr txBox="1"/>
          <p:nvPr/>
        </p:nvSpPr>
        <p:spPr>
          <a:xfrm>
            <a:off x="791436" y="966836"/>
            <a:ext cx="10037618" cy="4524315"/>
          </a:xfrm>
          <a:prstGeom prst="rect">
            <a:avLst/>
          </a:prstGeom>
          <a:noFill/>
        </p:spPr>
        <p:txBody>
          <a:bodyPr wrap="square">
            <a:spAutoFit/>
          </a:bodyPr>
          <a:lstStyle/>
          <a:p>
            <a:r>
              <a:rPr lang="zh-CN" altLang="en-US" b="1" dirty="0">
                <a:latin typeface="-apple-system"/>
              </a:rPr>
              <a:t>论文题目：</a:t>
            </a:r>
            <a:r>
              <a:rPr lang="en-US" altLang="zh-CN" b="1" dirty="0" err="1">
                <a:latin typeface="-apple-system"/>
              </a:rPr>
              <a:t>LDConv</a:t>
            </a:r>
            <a:r>
              <a:rPr lang="en-US" altLang="zh-CN" b="1" dirty="0">
                <a:latin typeface="-apple-system"/>
              </a:rPr>
              <a:t>: Linear deformable convolution for improving convolutional neural networks</a:t>
            </a:r>
          </a:p>
          <a:p>
            <a:r>
              <a:rPr lang="zh-CN" altLang="en-US" b="1" dirty="0">
                <a:latin typeface="-apple-system"/>
              </a:rPr>
              <a:t>中文题目：</a:t>
            </a:r>
            <a:r>
              <a:rPr lang="en-US" altLang="zh-CN" b="1" dirty="0" err="1">
                <a:latin typeface="-apple-system"/>
              </a:rPr>
              <a:t>LDConv</a:t>
            </a:r>
            <a:r>
              <a:rPr lang="zh-CN" altLang="en-US" b="1" dirty="0">
                <a:latin typeface="-apple-system"/>
              </a:rPr>
              <a:t>：</a:t>
            </a:r>
            <a:r>
              <a:rPr lang="zh-CN" altLang="en-US" dirty="0">
                <a:latin typeface="-apple-system"/>
              </a:rPr>
              <a:t>用于改进卷积神经网络的线性可变形卷积 </a:t>
            </a:r>
            <a:r>
              <a:rPr lang="zh-CN" altLang="en-US" sz="1800" dirty="0"/>
              <a:t>（</a:t>
            </a:r>
            <a:r>
              <a:rPr lang="zh-CN" altLang="en-US" sz="1800" b="0" i="0" dirty="0">
                <a:effectLst/>
                <a:latin typeface="-apple-system"/>
              </a:rPr>
              <a:t>图像和视觉计算</a:t>
            </a:r>
            <a:r>
              <a:rPr lang="zh-CN" altLang="en-US" sz="1800" dirty="0"/>
              <a:t>） </a:t>
            </a:r>
            <a:r>
              <a:rPr lang="en-US" altLang="zh-CN" sz="1800" dirty="0"/>
              <a:t>SCI 2024</a:t>
            </a:r>
            <a:endParaRPr lang="en-US" altLang="zh-CN" dirty="0">
              <a:latin typeface="-apple-system"/>
            </a:endParaRPr>
          </a:p>
          <a:p>
            <a:r>
              <a:rPr lang="en-US" altLang="zh-CN" b="1" dirty="0" err="1">
                <a:latin typeface="-apple-system"/>
              </a:rPr>
              <a:t>LDConv</a:t>
            </a:r>
            <a:r>
              <a:rPr lang="zh-CN" altLang="en-US" b="1" dirty="0">
                <a:latin typeface="-apple-system"/>
              </a:rPr>
              <a:t>模块背景</a:t>
            </a:r>
          </a:p>
          <a:p>
            <a:r>
              <a:rPr lang="zh-CN" altLang="en-US" dirty="0">
                <a:latin typeface="-apple-system"/>
              </a:rPr>
              <a:t>卷积神经网络（</a:t>
            </a:r>
            <a:r>
              <a:rPr lang="en-US" altLang="zh-CN" dirty="0">
                <a:latin typeface="-apple-system"/>
              </a:rPr>
              <a:t>CNN</a:t>
            </a:r>
            <a:r>
              <a:rPr lang="zh-CN" altLang="en-US" dirty="0">
                <a:latin typeface="-apple-system"/>
              </a:rPr>
              <a:t>）在深度学习领域取得了广泛应用，从图像分类、物体检测到图像分割等任务都依赖于其卷积运算来提取局部特征。然而，传统的卷积操作具有两个</a:t>
            </a:r>
            <a:r>
              <a:rPr lang="zh-CN" altLang="en-US" dirty="0">
                <a:solidFill>
                  <a:srgbClr val="C00000"/>
                </a:solidFill>
                <a:latin typeface="-apple-system"/>
              </a:rPr>
              <a:t>主要限制</a:t>
            </a:r>
            <a:r>
              <a:rPr lang="zh-CN" altLang="en-US" dirty="0">
                <a:latin typeface="-apple-system"/>
              </a:rPr>
              <a:t>：</a:t>
            </a:r>
          </a:p>
          <a:p>
            <a:r>
              <a:rPr lang="en-US" altLang="zh-CN" dirty="0">
                <a:latin typeface="-apple-system"/>
              </a:rPr>
              <a:t>1.</a:t>
            </a:r>
            <a:r>
              <a:rPr lang="zh-CN" altLang="en-US" b="1" dirty="0">
                <a:latin typeface="-apple-system"/>
              </a:rPr>
              <a:t>卷积运算的采样位置是固定的局部窗口，无法有效捕获全局信息</a:t>
            </a:r>
            <a:r>
              <a:rPr lang="zh-CN" altLang="en-US" dirty="0">
                <a:latin typeface="-apple-system"/>
              </a:rPr>
              <a:t>；</a:t>
            </a:r>
            <a:r>
              <a:rPr lang="zh-CN" altLang="en-US" b="1" dirty="0">
                <a:latin typeface="-apple-system"/>
              </a:rPr>
              <a:t>其次，卷积核的大小是固定的，通常为正方形（如</a:t>
            </a:r>
            <a:r>
              <a:rPr lang="en-US" altLang="zh-CN" b="1" dirty="0">
                <a:latin typeface="-apple-system"/>
              </a:rPr>
              <a:t>3×3</a:t>
            </a:r>
            <a:r>
              <a:rPr lang="zh-CN" altLang="en-US" b="1" dirty="0">
                <a:latin typeface="-apple-system"/>
              </a:rPr>
              <a:t>或</a:t>
            </a:r>
            <a:r>
              <a:rPr lang="en-US" altLang="zh-CN" b="1" dirty="0">
                <a:latin typeface="-apple-system"/>
              </a:rPr>
              <a:t>5×5</a:t>
            </a:r>
            <a:r>
              <a:rPr lang="zh-CN" altLang="en-US" b="1" dirty="0">
                <a:latin typeface="-apple-system"/>
              </a:rPr>
              <a:t>），随着卷积核的增大，参数数量呈平方增长</a:t>
            </a:r>
            <a:r>
              <a:rPr lang="zh-CN" altLang="en-US" dirty="0">
                <a:latin typeface="-apple-system"/>
              </a:rPr>
              <a:t>。</a:t>
            </a:r>
          </a:p>
          <a:p>
            <a:r>
              <a:rPr lang="en-US" altLang="zh-CN" dirty="0">
                <a:latin typeface="-apple-system"/>
              </a:rPr>
              <a:t>2. </a:t>
            </a:r>
            <a:r>
              <a:rPr lang="zh-CN" altLang="en-US" b="1" dirty="0">
                <a:latin typeface="-apple-system"/>
              </a:rPr>
              <a:t>可变形卷积（</a:t>
            </a:r>
            <a:r>
              <a:rPr lang="en-US" altLang="zh-CN" b="1" dirty="0">
                <a:latin typeface="-apple-system"/>
              </a:rPr>
              <a:t>Deformable Conv</a:t>
            </a:r>
            <a:r>
              <a:rPr lang="zh-CN" altLang="en-US" b="1" dirty="0">
                <a:latin typeface="-apple-system"/>
              </a:rPr>
              <a:t>）虽然在一定程度上缓解了采样位置固定的问题，通过偏移调整来适应目标形状的变化，但其参数增长仍然呈平方趋势</a:t>
            </a:r>
            <a:r>
              <a:rPr lang="zh-CN" altLang="en-US" dirty="0">
                <a:latin typeface="-apple-system"/>
              </a:rPr>
              <a:t>，这对于硬件性能带来了较大挑战，尤其在处理大卷积核时会导致计算和内存开销大幅增加。</a:t>
            </a:r>
            <a:endParaRPr lang="en-US" altLang="zh-CN" dirty="0">
              <a:latin typeface="-apple-system"/>
            </a:endParaRPr>
          </a:p>
          <a:p>
            <a:endParaRPr lang="en-US" altLang="zh-CN" b="0" i="0" dirty="0">
              <a:effectLst/>
              <a:latin typeface="-apple-system"/>
            </a:endParaRPr>
          </a:p>
          <a:p>
            <a:r>
              <a:rPr lang="en-US" altLang="zh-CN" b="1" i="0" dirty="0" err="1">
                <a:effectLst/>
                <a:latin typeface="-apple-system"/>
              </a:rPr>
              <a:t>LDConv</a:t>
            </a:r>
            <a:r>
              <a:rPr lang="zh-CN" altLang="en-US" b="1" i="0" dirty="0">
                <a:effectLst/>
                <a:latin typeface="-apple-system"/>
              </a:rPr>
              <a:t>的</a:t>
            </a:r>
            <a:r>
              <a:rPr lang="zh-CN" altLang="en-US" b="1" i="0" dirty="0">
                <a:solidFill>
                  <a:srgbClr val="C00000"/>
                </a:solidFill>
                <a:effectLst/>
                <a:latin typeface="-apple-system"/>
              </a:rPr>
              <a:t>创新在于</a:t>
            </a:r>
            <a:r>
              <a:rPr lang="zh-CN" altLang="en-US" b="1" i="0" dirty="0">
                <a:effectLst/>
                <a:latin typeface="-apple-system"/>
              </a:rPr>
              <a:t>：</a:t>
            </a:r>
          </a:p>
          <a:p>
            <a:r>
              <a:rPr lang="en-US" altLang="zh-CN" b="0" i="0" dirty="0">
                <a:effectLst/>
                <a:latin typeface="-apple-system"/>
              </a:rPr>
              <a:t>1. </a:t>
            </a:r>
            <a:r>
              <a:rPr lang="zh-CN" altLang="en-US" b="1" i="0" dirty="0">
                <a:effectLst/>
                <a:latin typeface="-apple-system"/>
              </a:rPr>
              <a:t>灵活采样</a:t>
            </a:r>
            <a:r>
              <a:rPr lang="zh-CN" altLang="en-US" b="0" i="0" dirty="0">
                <a:effectLst/>
                <a:latin typeface="-apple-system"/>
              </a:rPr>
              <a:t>：支持非规则采样，使其能够适应不同目标的多变形状，提高卷积操作的特征提取能力。</a:t>
            </a:r>
          </a:p>
          <a:p>
            <a:r>
              <a:rPr lang="en-US" altLang="zh-CN" b="0" i="0" dirty="0">
                <a:effectLst/>
                <a:latin typeface="-apple-system"/>
              </a:rPr>
              <a:t>2. </a:t>
            </a:r>
            <a:r>
              <a:rPr lang="zh-CN" altLang="en-US" b="1" i="0" dirty="0">
                <a:effectLst/>
                <a:latin typeface="-apple-system"/>
              </a:rPr>
              <a:t>线性增长的参数</a:t>
            </a:r>
            <a:r>
              <a:rPr lang="zh-CN" altLang="en-US" b="0" i="0" dirty="0">
                <a:effectLst/>
                <a:latin typeface="-apple-system"/>
              </a:rPr>
              <a:t>：不同于标准和可变形卷积的平方增长，</a:t>
            </a:r>
            <a:r>
              <a:rPr lang="en-US" altLang="zh-CN" b="0" i="0" dirty="0" err="1">
                <a:effectLst/>
                <a:latin typeface="-apple-system"/>
              </a:rPr>
              <a:t>LDConv</a:t>
            </a:r>
            <a:r>
              <a:rPr lang="zh-CN" altLang="en-US" b="0" i="0" dirty="0">
                <a:effectLst/>
                <a:latin typeface="-apple-system"/>
              </a:rPr>
              <a:t>的参数数量随卷积核大小呈线性增长，显著降低了计算和内存开销。</a:t>
            </a:r>
          </a:p>
          <a:p>
            <a:r>
              <a:rPr lang="en-US" altLang="zh-CN" b="0" i="0" dirty="0">
                <a:effectLst/>
                <a:latin typeface="-apple-system"/>
              </a:rPr>
              <a:t>3. </a:t>
            </a:r>
            <a:r>
              <a:rPr lang="zh-CN" altLang="en-US" b="1" i="0" dirty="0">
                <a:effectLst/>
                <a:latin typeface="-apple-system"/>
              </a:rPr>
              <a:t>动态调整</a:t>
            </a:r>
            <a:r>
              <a:rPr lang="zh-CN" altLang="en-US" b="0" i="0" dirty="0">
                <a:effectLst/>
                <a:latin typeface="-apple-system"/>
              </a:rPr>
              <a:t>：引入偏移调整，允许每个位置的采样形状进行动态变化，以更好适应目标的多变特征。</a:t>
            </a:r>
            <a:endParaRPr lang="en-US" altLang="zh-CN" b="0" i="0" dirty="0">
              <a:effectLst/>
              <a:latin typeface="-apple-system"/>
            </a:endParaRPr>
          </a:p>
        </p:txBody>
      </p:sp>
    </p:spTree>
    <p:extLst>
      <p:ext uri="{BB962C8B-B14F-4D97-AF65-F5344CB8AC3E}">
        <p14:creationId xmlns:p14="http://schemas.microsoft.com/office/powerpoint/2010/main" val="28640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63ABB-A58A-446A-5286-83087FE0A9A4}"/>
            </a:ext>
          </a:extLst>
        </p:cNvPr>
        <p:cNvGrpSpPr/>
        <p:nvPr/>
      </p:nvGrpSpPr>
      <p:grpSpPr>
        <a:xfrm>
          <a:off x="0" y="0"/>
          <a:ext cx="0" cy="0"/>
          <a:chOff x="0" y="0"/>
          <a:chExt cx="0" cy="0"/>
        </a:xfrm>
      </p:grpSpPr>
      <p:sp>
        <p:nvSpPr>
          <p:cNvPr id="28" name="矩形 27">
            <a:extLst>
              <a:ext uri="{FF2B5EF4-FFF2-40B4-BE49-F238E27FC236}">
                <a16:creationId xmlns:a16="http://schemas.microsoft.com/office/drawing/2014/main" id="{EFC82707-1327-83E1-7DD8-8A60D13966EC}"/>
              </a:ext>
            </a:extLst>
          </p:cNvPr>
          <p:cNvSpPr/>
          <p:nvPr/>
        </p:nvSpPr>
        <p:spPr>
          <a:xfrm>
            <a:off x="0" y="6450875"/>
            <a:ext cx="12192000" cy="407125"/>
          </a:xfrm>
          <a:prstGeom prst="rect">
            <a:avLst/>
          </a:prstGeom>
          <a:solidFill>
            <a:srgbClr val="24569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52350700-77E0-E149-94B2-107EF918A0AF}"/>
              </a:ext>
            </a:extLst>
          </p:cNvPr>
          <p:cNvSpPr txBox="1"/>
          <p:nvPr/>
        </p:nvSpPr>
        <p:spPr>
          <a:xfrm>
            <a:off x="451828" y="157533"/>
            <a:ext cx="2141933" cy="461665"/>
          </a:xfrm>
          <a:prstGeom prst="rect">
            <a:avLst/>
          </a:prstGeom>
          <a:noFill/>
        </p:spPr>
        <p:txBody>
          <a:bodyPr wrap="none" rtlCol="0">
            <a:spAutoFit/>
          </a:bodyPr>
          <a:lstStyle/>
          <a:p>
            <a:r>
              <a:rPr lang="en-US" altLang="zh-CN" sz="2400" dirty="0" err="1"/>
              <a:t>LDCnov</a:t>
            </a:r>
            <a:r>
              <a:rPr lang="zh-CN" altLang="en-US" sz="2400" dirty="0"/>
              <a:t>模型图</a:t>
            </a:r>
          </a:p>
        </p:txBody>
      </p:sp>
      <p:pic>
        <p:nvPicPr>
          <p:cNvPr id="4" name="图片 3">
            <a:extLst>
              <a:ext uri="{FF2B5EF4-FFF2-40B4-BE49-F238E27FC236}">
                <a16:creationId xmlns:a16="http://schemas.microsoft.com/office/drawing/2014/main" id="{8B10A23E-0A76-D2DD-D517-BA1797F5A253}"/>
              </a:ext>
            </a:extLst>
          </p:cNvPr>
          <p:cNvPicPr>
            <a:picLocks noChangeAspect="1"/>
          </p:cNvPicPr>
          <p:nvPr/>
        </p:nvPicPr>
        <p:blipFill>
          <a:blip r:embed="rId3">
            <a:extLst>
              <a:ext uri="{28A0092B-C50C-407E-A947-70E740481C1C}">
                <a14:useLocalDpi xmlns:a14="http://schemas.microsoft.com/office/drawing/2010/main" val="0"/>
              </a:ext>
            </a:extLst>
          </a:blip>
          <a:srcRect t="5172"/>
          <a:stretch/>
        </p:blipFill>
        <p:spPr>
          <a:xfrm>
            <a:off x="548639" y="985861"/>
            <a:ext cx="7100515" cy="4757745"/>
          </a:xfrm>
          <a:prstGeom prst="rect">
            <a:avLst/>
          </a:prstGeom>
        </p:spPr>
      </p:pic>
      <p:pic>
        <p:nvPicPr>
          <p:cNvPr id="6" name="图片 5">
            <a:extLst>
              <a:ext uri="{FF2B5EF4-FFF2-40B4-BE49-F238E27FC236}">
                <a16:creationId xmlns:a16="http://schemas.microsoft.com/office/drawing/2014/main" id="{EA7013AE-F92C-8435-2A4A-E1B896E163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5190" y="1216550"/>
            <a:ext cx="3574908" cy="2675452"/>
          </a:xfrm>
          <a:prstGeom prst="rect">
            <a:avLst/>
          </a:prstGeom>
        </p:spPr>
      </p:pic>
    </p:spTree>
    <p:extLst>
      <p:ext uri="{BB962C8B-B14F-4D97-AF65-F5344CB8AC3E}">
        <p14:creationId xmlns:p14="http://schemas.microsoft.com/office/powerpoint/2010/main" val="159000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E24BC-0947-F371-BCA5-689EC571B41D}"/>
            </a:ext>
          </a:extLst>
        </p:cNvPr>
        <p:cNvGrpSpPr/>
        <p:nvPr/>
      </p:nvGrpSpPr>
      <p:grpSpPr>
        <a:xfrm>
          <a:off x="0" y="0"/>
          <a:ext cx="0" cy="0"/>
          <a:chOff x="0" y="0"/>
          <a:chExt cx="0" cy="0"/>
        </a:xfrm>
      </p:grpSpPr>
      <p:sp>
        <p:nvSpPr>
          <p:cNvPr id="28" name="矩形 27">
            <a:extLst>
              <a:ext uri="{FF2B5EF4-FFF2-40B4-BE49-F238E27FC236}">
                <a16:creationId xmlns:a16="http://schemas.microsoft.com/office/drawing/2014/main" id="{155FD6FC-0610-7C41-7EB2-DE1C1A20339F}"/>
              </a:ext>
            </a:extLst>
          </p:cNvPr>
          <p:cNvSpPr/>
          <p:nvPr/>
        </p:nvSpPr>
        <p:spPr>
          <a:xfrm>
            <a:off x="0" y="6450875"/>
            <a:ext cx="12192000" cy="407125"/>
          </a:xfrm>
          <a:prstGeom prst="rect">
            <a:avLst/>
          </a:prstGeom>
          <a:solidFill>
            <a:srgbClr val="24569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3209A040-0C99-B9AD-37BC-A93D79686CAA}"/>
              </a:ext>
            </a:extLst>
          </p:cNvPr>
          <p:cNvSpPr txBox="1"/>
          <p:nvPr/>
        </p:nvSpPr>
        <p:spPr>
          <a:xfrm>
            <a:off x="451828" y="157533"/>
            <a:ext cx="2201628" cy="461665"/>
          </a:xfrm>
          <a:prstGeom prst="rect">
            <a:avLst/>
          </a:prstGeom>
          <a:noFill/>
        </p:spPr>
        <p:txBody>
          <a:bodyPr wrap="none" rtlCol="0">
            <a:spAutoFit/>
          </a:bodyPr>
          <a:lstStyle/>
          <a:p>
            <a:r>
              <a:rPr lang="zh-CN" altLang="en-US" sz="2400" dirty="0">
                <a:solidFill>
                  <a:schemeClr val="tx1"/>
                </a:solidFill>
                <a:latin typeface="Cambria Math" panose="02040503050406030204" pitchFamily="18" charset="0"/>
                <a:cs typeface="Times New Roman" panose="02020603050405020304" pitchFamily="18" charset="0"/>
              </a:rPr>
              <a:t>多尺度</a:t>
            </a:r>
            <a:r>
              <a:rPr lang="en-US" altLang="zh-CN" sz="2400" dirty="0">
                <a:solidFill>
                  <a:schemeClr val="tx1"/>
                </a:solidFill>
                <a:latin typeface="Cambria Math" panose="02040503050406030204" pitchFamily="18" charset="0"/>
                <a:cs typeface="Times New Roman" panose="02020603050405020304" pitchFamily="18" charset="0"/>
              </a:rPr>
              <a:t> LDConv</a:t>
            </a:r>
            <a:endParaRPr lang="zh-CN" altLang="en-US" sz="2400" dirty="0"/>
          </a:p>
        </p:txBody>
      </p:sp>
      <p:sp>
        <p:nvSpPr>
          <p:cNvPr id="6" name="文本框 5">
            <a:extLst>
              <a:ext uri="{FF2B5EF4-FFF2-40B4-BE49-F238E27FC236}">
                <a16:creationId xmlns:a16="http://schemas.microsoft.com/office/drawing/2014/main" id="{E0AA34F5-F1A6-D430-3E4A-77E2B1885AC8}"/>
              </a:ext>
            </a:extLst>
          </p:cNvPr>
          <p:cNvSpPr txBox="1"/>
          <p:nvPr/>
        </p:nvSpPr>
        <p:spPr>
          <a:xfrm>
            <a:off x="451828" y="833101"/>
            <a:ext cx="10879372" cy="1754326"/>
          </a:xfrm>
          <a:prstGeom prst="rect">
            <a:avLst/>
          </a:prstGeom>
          <a:noFill/>
        </p:spPr>
        <p:txBody>
          <a:bodyPr wrap="square">
            <a:spAutoFit/>
          </a:bodyPr>
          <a:lstStyle/>
          <a:p>
            <a:r>
              <a:rPr lang="en-US" altLang="zh-CN" i="0" dirty="0">
                <a:effectLst/>
                <a:latin typeface="-apple-system"/>
              </a:rPr>
              <a:t>LDConv</a:t>
            </a:r>
            <a:r>
              <a:rPr lang="zh-CN" altLang="en-US" i="0" dirty="0">
                <a:effectLst/>
                <a:latin typeface="-apple-system"/>
              </a:rPr>
              <a:t>（线性可变形卷积）的</a:t>
            </a:r>
            <a:r>
              <a:rPr lang="zh-CN" altLang="en-US" b="1" i="0" dirty="0">
                <a:effectLst/>
                <a:latin typeface="-apple-system"/>
              </a:rPr>
              <a:t>局限在于其采样是基于单一尺度的</a:t>
            </a:r>
            <a:r>
              <a:rPr lang="zh-CN" altLang="en-US" i="0" dirty="0">
                <a:effectLst/>
                <a:latin typeface="-apple-system"/>
              </a:rPr>
              <a:t>，而在蛋白质特征提取任务中，</a:t>
            </a:r>
            <a:r>
              <a:rPr lang="zh-CN" altLang="en-US" b="1" i="0" dirty="0">
                <a:effectLst/>
                <a:latin typeface="-apple-system"/>
              </a:rPr>
              <a:t>不同尺度的特征往往能更全面地捕获蛋白质的复杂结构和功能信息</a:t>
            </a:r>
            <a:r>
              <a:rPr lang="zh-CN" altLang="en-US" i="0" dirty="0">
                <a:effectLst/>
                <a:latin typeface="-apple-system"/>
              </a:rPr>
              <a:t>。引入多尺度采样可以提升模型对多样化蛋白质结构的适应性。</a:t>
            </a:r>
            <a:endParaRPr lang="en-US" altLang="zh-CN" i="0" dirty="0">
              <a:effectLst/>
              <a:latin typeface="-apple-system"/>
            </a:endParaRPr>
          </a:p>
          <a:p>
            <a:endParaRPr lang="en-US" altLang="zh-CN" dirty="0">
              <a:latin typeface="-apple-system"/>
            </a:endParaRPr>
          </a:p>
          <a:p>
            <a:r>
              <a:rPr lang="zh-CN" altLang="en-US" b="1" dirty="0">
                <a:latin typeface="-apple-system"/>
              </a:rPr>
              <a:t>方法：在偏移生成阶段，为每个采样位置生成多个尺度的偏移，即在不同的空间尺度上进行采样。</a:t>
            </a:r>
            <a:endParaRPr lang="en-US" altLang="zh-CN" b="1" dirty="0">
              <a:latin typeface="-apple-system"/>
            </a:endParaRPr>
          </a:p>
          <a:p>
            <a:endParaRPr lang="en-US" altLang="zh-CN" b="1" dirty="0">
              <a:latin typeface="-apple-system"/>
            </a:endParaRPr>
          </a:p>
        </p:txBody>
      </p:sp>
      <p:pic>
        <p:nvPicPr>
          <p:cNvPr id="3" name="图片 2">
            <a:extLst>
              <a:ext uri="{FF2B5EF4-FFF2-40B4-BE49-F238E27FC236}">
                <a16:creationId xmlns:a16="http://schemas.microsoft.com/office/drawing/2014/main" id="{AC8F0218-D3E8-3FE3-FE69-7DDECB06EB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0800" y="2231631"/>
            <a:ext cx="8646501" cy="4077886"/>
          </a:xfrm>
          <a:prstGeom prst="rect">
            <a:avLst/>
          </a:prstGeom>
        </p:spPr>
      </p:pic>
    </p:spTree>
    <p:extLst>
      <p:ext uri="{BB962C8B-B14F-4D97-AF65-F5344CB8AC3E}">
        <p14:creationId xmlns:p14="http://schemas.microsoft.com/office/powerpoint/2010/main" val="1317385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B5A5E-1A6D-5CA8-C237-253F57C74D3C}"/>
            </a:ext>
          </a:extLst>
        </p:cNvPr>
        <p:cNvGrpSpPr/>
        <p:nvPr/>
      </p:nvGrpSpPr>
      <p:grpSpPr>
        <a:xfrm>
          <a:off x="0" y="0"/>
          <a:ext cx="0" cy="0"/>
          <a:chOff x="0" y="0"/>
          <a:chExt cx="0" cy="0"/>
        </a:xfrm>
      </p:grpSpPr>
      <p:sp>
        <p:nvSpPr>
          <p:cNvPr id="28" name="矩形 27">
            <a:extLst>
              <a:ext uri="{FF2B5EF4-FFF2-40B4-BE49-F238E27FC236}">
                <a16:creationId xmlns:a16="http://schemas.microsoft.com/office/drawing/2014/main" id="{4625FFDA-B957-3161-2135-5FBCB6479827}"/>
              </a:ext>
            </a:extLst>
          </p:cNvPr>
          <p:cNvSpPr/>
          <p:nvPr/>
        </p:nvSpPr>
        <p:spPr>
          <a:xfrm>
            <a:off x="0" y="6450875"/>
            <a:ext cx="12192000" cy="407125"/>
          </a:xfrm>
          <a:prstGeom prst="rect">
            <a:avLst/>
          </a:prstGeom>
          <a:solidFill>
            <a:srgbClr val="24569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86C811BB-22DB-6BB7-45FB-D811FDB01C79}"/>
              </a:ext>
            </a:extLst>
          </p:cNvPr>
          <p:cNvSpPr txBox="1"/>
          <p:nvPr/>
        </p:nvSpPr>
        <p:spPr>
          <a:xfrm>
            <a:off x="252989" y="138509"/>
            <a:ext cx="7933518" cy="461665"/>
          </a:xfrm>
          <a:prstGeom prst="rect">
            <a:avLst/>
          </a:prstGeom>
          <a:noFill/>
        </p:spPr>
        <p:txBody>
          <a:bodyPr wrap="none" rtlCol="0">
            <a:spAutoFit/>
          </a:bodyPr>
          <a:lstStyle/>
          <a:p>
            <a:r>
              <a:rPr lang="en-US" altLang="zh-CN" sz="2400" dirty="0"/>
              <a:t>Top-K </a:t>
            </a:r>
            <a:r>
              <a:rPr lang="zh-CN" altLang="en-US" sz="2400" dirty="0"/>
              <a:t>稀疏注意力（</a:t>
            </a:r>
            <a:r>
              <a:rPr lang="en-US" altLang="zh-CN" sz="2400" dirty="0"/>
              <a:t>Top-k Sparse Attention ,TKSA</a:t>
            </a:r>
            <a:r>
              <a:rPr lang="zh-CN" altLang="en-US" sz="2400" dirty="0"/>
              <a:t>）</a:t>
            </a:r>
          </a:p>
        </p:txBody>
      </p:sp>
      <p:sp>
        <p:nvSpPr>
          <p:cNvPr id="8" name="文本框 7">
            <a:extLst>
              <a:ext uri="{FF2B5EF4-FFF2-40B4-BE49-F238E27FC236}">
                <a16:creationId xmlns:a16="http://schemas.microsoft.com/office/drawing/2014/main" id="{0659AB2B-2E9E-A7E4-3938-0FD32758A28E}"/>
              </a:ext>
            </a:extLst>
          </p:cNvPr>
          <p:cNvSpPr txBox="1"/>
          <p:nvPr/>
        </p:nvSpPr>
        <p:spPr>
          <a:xfrm>
            <a:off x="763155" y="1078625"/>
            <a:ext cx="10037618" cy="2862322"/>
          </a:xfrm>
          <a:prstGeom prst="rect">
            <a:avLst/>
          </a:prstGeom>
          <a:noFill/>
        </p:spPr>
        <p:txBody>
          <a:bodyPr wrap="square">
            <a:spAutoFit/>
          </a:bodyPr>
          <a:lstStyle/>
          <a:p>
            <a:r>
              <a:rPr lang="zh-CN" altLang="en-US" dirty="0">
                <a:latin typeface="-apple-system"/>
              </a:rPr>
              <a:t>论文题目：</a:t>
            </a:r>
            <a:r>
              <a:rPr lang="en-US" altLang="zh-CN" dirty="0">
                <a:latin typeface="-apple-system"/>
              </a:rPr>
              <a:t>Learning A Sparse Transformer Network for Effective Image </a:t>
            </a:r>
            <a:r>
              <a:rPr lang="en-US" altLang="zh-CN" dirty="0" err="1">
                <a:latin typeface="-apple-system"/>
              </a:rPr>
              <a:t>Deraining</a:t>
            </a:r>
            <a:r>
              <a:rPr lang="zh-CN" altLang="en-US" dirty="0">
                <a:latin typeface="-apple-system"/>
              </a:rPr>
              <a:t>（</a:t>
            </a:r>
            <a:r>
              <a:rPr lang="en-US" altLang="zh-CN" dirty="0">
                <a:latin typeface="-apple-system"/>
              </a:rPr>
              <a:t>CVPR 2023</a:t>
            </a:r>
            <a:r>
              <a:rPr lang="zh-CN" altLang="en-US" dirty="0">
                <a:latin typeface="-apple-system"/>
              </a:rPr>
              <a:t>）</a:t>
            </a:r>
          </a:p>
          <a:p>
            <a:r>
              <a:rPr lang="zh-CN" altLang="en-US" dirty="0">
                <a:latin typeface="-apple-system"/>
              </a:rPr>
              <a:t>中文题目：学习稀疏的变压器网络以实现有效的图像去雨 （</a:t>
            </a:r>
            <a:r>
              <a:rPr lang="en-US" altLang="zh-CN" dirty="0">
                <a:latin typeface="-apple-system"/>
              </a:rPr>
              <a:t>CVPR 2023</a:t>
            </a:r>
            <a:r>
              <a:rPr lang="zh-CN" altLang="en-US" dirty="0">
                <a:latin typeface="-apple-system"/>
              </a:rPr>
              <a:t>）</a:t>
            </a:r>
            <a:endParaRPr lang="en-US" altLang="zh-CN" dirty="0">
              <a:latin typeface="-apple-system"/>
            </a:endParaRPr>
          </a:p>
          <a:p>
            <a:endParaRPr lang="en-US" altLang="zh-CN" dirty="0">
              <a:latin typeface="-apple-system"/>
            </a:endParaRPr>
          </a:p>
          <a:p>
            <a:r>
              <a:rPr lang="zh-CN" altLang="en-US" dirty="0">
                <a:latin typeface="-apple-system"/>
              </a:rPr>
              <a:t>背景：</a:t>
            </a:r>
            <a:r>
              <a:rPr lang="en-US" altLang="zh-CN" b="1" dirty="0">
                <a:latin typeface="-apple-system"/>
              </a:rPr>
              <a:t>Transformer</a:t>
            </a:r>
            <a:r>
              <a:rPr lang="zh-CN" altLang="en-US" b="1" dirty="0">
                <a:latin typeface="-apple-system"/>
              </a:rPr>
              <a:t>标准自注意力机制在计算时会考虑所有</a:t>
            </a:r>
            <a:r>
              <a:rPr lang="en-US" altLang="zh-CN" b="1" dirty="0">
                <a:latin typeface="-apple-system"/>
              </a:rPr>
              <a:t>Q-K</a:t>
            </a:r>
            <a:r>
              <a:rPr lang="zh-CN" altLang="en-US" b="1" dirty="0">
                <a:latin typeface="-apple-system"/>
              </a:rPr>
              <a:t>关系，这可能导致在图像恢复任务中引入无关特征的噪声干扰。</a:t>
            </a:r>
            <a:endParaRPr lang="en-US" altLang="zh-CN" b="1" dirty="0">
              <a:latin typeface="-apple-system"/>
            </a:endParaRPr>
          </a:p>
          <a:p>
            <a:endParaRPr lang="en-US" altLang="zh-CN" b="0" i="0" dirty="0">
              <a:effectLst/>
              <a:latin typeface="-apple-system"/>
            </a:endParaRPr>
          </a:p>
          <a:p>
            <a:r>
              <a:rPr lang="zh-CN" altLang="en-US" b="1" i="0" dirty="0">
                <a:solidFill>
                  <a:srgbClr val="C00000"/>
                </a:solidFill>
                <a:effectLst/>
                <a:latin typeface="-apple-system"/>
              </a:rPr>
              <a:t>创新</a:t>
            </a:r>
            <a:r>
              <a:rPr lang="zh-CN" altLang="en-US" b="1" i="0" dirty="0">
                <a:effectLst/>
                <a:latin typeface="-apple-system"/>
              </a:rPr>
              <a:t>：通过保留最有用的自注意力值，避免无关信息在特征交互过程中的干扰，有助于更好地聚合特征。</a:t>
            </a:r>
            <a:endParaRPr lang="en-US" altLang="zh-CN" b="1" i="0" dirty="0">
              <a:effectLst/>
              <a:latin typeface="-apple-system"/>
            </a:endParaRPr>
          </a:p>
          <a:p>
            <a:endParaRPr lang="en-US" altLang="zh-CN" b="1" dirty="0">
              <a:latin typeface="-apple-system"/>
            </a:endParaRPr>
          </a:p>
          <a:p>
            <a:endParaRPr lang="zh-CN" altLang="en-US" b="1" i="0" dirty="0">
              <a:effectLst/>
              <a:latin typeface="-apple-system"/>
            </a:endParaRPr>
          </a:p>
        </p:txBody>
      </p:sp>
      <p:pic>
        <p:nvPicPr>
          <p:cNvPr id="5" name="图片 4">
            <a:extLst>
              <a:ext uri="{FF2B5EF4-FFF2-40B4-BE49-F238E27FC236}">
                <a16:creationId xmlns:a16="http://schemas.microsoft.com/office/drawing/2014/main" id="{F8C9BB83-0F83-6F6C-AB58-1EFAEA5681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3070" y="3530600"/>
            <a:ext cx="5422021" cy="2705598"/>
          </a:xfrm>
          <a:prstGeom prst="rect">
            <a:avLst/>
          </a:prstGeom>
        </p:spPr>
      </p:pic>
    </p:spTree>
    <p:extLst>
      <p:ext uri="{BB962C8B-B14F-4D97-AF65-F5344CB8AC3E}">
        <p14:creationId xmlns:p14="http://schemas.microsoft.com/office/powerpoint/2010/main" val="1942046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892EA-A735-35D6-5D58-B0A9462429A9}"/>
            </a:ext>
          </a:extLst>
        </p:cNvPr>
        <p:cNvGrpSpPr/>
        <p:nvPr/>
      </p:nvGrpSpPr>
      <p:grpSpPr>
        <a:xfrm>
          <a:off x="0" y="0"/>
          <a:ext cx="0" cy="0"/>
          <a:chOff x="0" y="0"/>
          <a:chExt cx="0" cy="0"/>
        </a:xfrm>
      </p:grpSpPr>
      <p:sp>
        <p:nvSpPr>
          <p:cNvPr id="28" name="矩形 27">
            <a:extLst>
              <a:ext uri="{FF2B5EF4-FFF2-40B4-BE49-F238E27FC236}">
                <a16:creationId xmlns:a16="http://schemas.microsoft.com/office/drawing/2014/main" id="{38A134AE-A6C4-93F5-7310-2707E13130F7}"/>
              </a:ext>
            </a:extLst>
          </p:cNvPr>
          <p:cNvSpPr/>
          <p:nvPr/>
        </p:nvSpPr>
        <p:spPr>
          <a:xfrm>
            <a:off x="0" y="6450875"/>
            <a:ext cx="12192000" cy="407125"/>
          </a:xfrm>
          <a:prstGeom prst="rect">
            <a:avLst/>
          </a:prstGeom>
          <a:solidFill>
            <a:srgbClr val="24569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3C7A484F-8ADB-6F17-83EE-790E10D02C08}"/>
              </a:ext>
            </a:extLst>
          </p:cNvPr>
          <p:cNvSpPr txBox="1"/>
          <p:nvPr/>
        </p:nvSpPr>
        <p:spPr>
          <a:xfrm>
            <a:off x="252989" y="138509"/>
            <a:ext cx="7374519" cy="461665"/>
          </a:xfrm>
          <a:prstGeom prst="rect">
            <a:avLst/>
          </a:prstGeom>
          <a:noFill/>
        </p:spPr>
        <p:txBody>
          <a:bodyPr wrap="none" rtlCol="0">
            <a:spAutoFit/>
          </a:bodyPr>
          <a:lstStyle/>
          <a:p>
            <a:r>
              <a:rPr lang="en-US" altLang="zh-CN" sz="2400" dirty="0"/>
              <a:t>Large-kernel grouped attention gate (LGAG)</a:t>
            </a:r>
            <a:r>
              <a:rPr lang="zh-CN" altLang="en-US" sz="2400" dirty="0"/>
              <a:t>）</a:t>
            </a:r>
          </a:p>
        </p:txBody>
      </p:sp>
      <p:sp>
        <p:nvSpPr>
          <p:cNvPr id="8" name="文本框 7">
            <a:extLst>
              <a:ext uri="{FF2B5EF4-FFF2-40B4-BE49-F238E27FC236}">
                <a16:creationId xmlns:a16="http://schemas.microsoft.com/office/drawing/2014/main" id="{12673354-62FA-53D8-CB74-3507344D299B}"/>
              </a:ext>
            </a:extLst>
          </p:cNvPr>
          <p:cNvSpPr txBox="1"/>
          <p:nvPr/>
        </p:nvSpPr>
        <p:spPr>
          <a:xfrm>
            <a:off x="727134" y="1701986"/>
            <a:ext cx="4770379" cy="2585323"/>
          </a:xfrm>
          <a:prstGeom prst="rect">
            <a:avLst/>
          </a:prstGeom>
          <a:noFill/>
        </p:spPr>
        <p:txBody>
          <a:bodyPr wrap="square">
            <a:spAutoFit/>
          </a:bodyPr>
          <a:lstStyle/>
          <a:p>
            <a:r>
              <a:rPr lang="zh-CN" altLang="en-US" dirty="0">
                <a:latin typeface="-apple-system"/>
              </a:rPr>
              <a:t>论文题目：</a:t>
            </a:r>
            <a:r>
              <a:rPr lang="en-US" altLang="zh-CN" dirty="0">
                <a:latin typeface="-apple-system"/>
              </a:rPr>
              <a:t>EMCAD: Efficient Multi-scale Convolutional Attention Decoding for Medical</a:t>
            </a:r>
          </a:p>
          <a:p>
            <a:r>
              <a:rPr lang="en-US" altLang="zh-CN" dirty="0">
                <a:latin typeface="-apple-system"/>
              </a:rPr>
              <a:t>Image Segmentation </a:t>
            </a:r>
            <a:r>
              <a:rPr lang="zh-CN" altLang="en-US" dirty="0">
                <a:latin typeface="-apple-system"/>
              </a:rPr>
              <a:t>（</a:t>
            </a:r>
            <a:r>
              <a:rPr lang="en-US" altLang="zh-CN" dirty="0">
                <a:latin typeface="-apple-system"/>
              </a:rPr>
              <a:t> CVPR 2024 </a:t>
            </a:r>
            <a:r>
              <a:rPr lang="zh-CN" altLang="en-US" dirty="0">
                <a:latin typeface="-apple-system"/>
              </a:rPr>
              <a:t>）</a:t>
            </a:r>
          </a:p>
          <a:p>
            <a:r>
              <a:rPr lang="zh-CN" altLang="en-US" dirty="0">
                <a:latin typeface="-apple-system"/>
              </a:rPr>
              <a:t>中文题目：</a:t>
            </a:r>
            <a:r>
              <a:rPr lang="en-US" altLang="zh-CN" dirty="0">
                <a:latin typeface="-apple-system"/>
              </a:rPr>
              <a:t>EMCAD</a:t>
            </a:r>
            <a:r>
              <a:rPr lang="zh-CN" altLang="en-US" dirty="0">
                <a:latin typeface="-apple-system"/>
              </a:rPr>
              <a:t>：用于医学图像分割的高效多尺度卷积注意力解码器</a:t>
            </a:r>
            <a:endParaRPr lang="en-US" altLang="zh-CN" dirty="0">
              <a:latin typeface="-apple-system"/>
            </a:endParaRPr>
          </a:p>
          <a:p>
            <a:endParaRPr lang="en-US" altLang="zh-CN" dirty="0">
              <a:latin typeface="-apple-system"/>
            </a:endParaRPr>
          </a:p>
          <a:p>
            <a:r>
              <a:rPr lang="en-US" altLang="zh-CN" b="0" i="0" dirty="0">
                <a:effectLst/>
                <a:latin typeface="-apple-system"/>
              </a:rPr>
              <a:t>Large-kernel grouped attention gate (LGAG</a:t>
            </a:r>
            <a:r>
              <a:rPr lang="en-US" altLang="zh-CN" b="1" i="0" dirty="0">
                <a:effectLst/>
                <a:latin typeface="-apple-system"/>
              </a:rPr>
              <a:t>) </a:t>
            </a:r>
            <a:r>
              <a:rPr lang="zh-CN" altLang="en-US" b="1" i="0" dirty="0">
                <a:effectLst/>
                <a:latin typeface="-apple-system"/>
              </a:rPr>
              <a:t>用于逐步结合特征图与注意力系数，激活高相关性特征，并抑制不相关的特征。</a:t>
            </a:r>
            <a:endParaRPr lang="en-US" altLang="zh-CN" b="1" i="0" dirty="0">
              <a:effectLst/>
              <a:latin typeface="-apple-system"/>
            </a:endParaRPr>
          </a:p>
        </p:txBody>
      </p:sp>
      <p:pic>
        <p:nvPicPr>
          <p:cNvPr id="4" name="图片 3">
            <a:extLst>
              <a:ext uri="{FF2B5EF4-FFF2-40B4-BE49-F238E27FC236}">
                <a16:creationId xmlns:a16="http://schemas.microsoft.com/office/drawing/2014/main" id="{5BAF3486-BAC0-94A6-454A-577A0778F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3536" y="1439258"/>
            <a:ext cx="3029373" cy="4172532"/>
          </a:xfrm>
          <a:prstGeom prst="rect">
            <a:avLst/>
          </a:prstGeom>
        </p:spPr>
      </p:pic>
    </p:spTree>
    <p:extLst>
      <p:ext uri="{BB962C8B-B14F-4D97-AF65-F5344CB8AC3E}">
        <p14:creationId xmlns:p14="http://schemas.microsoft.com/office/powerpoint/2010/main" val="2880015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ABFF6-6D26-6380-9A73-2BA9B57BA3AA}"/>
            </a:ext>
          </a:extLst>
        </p:cNvPr>
        <p:cNvGrpSpPr/>
        <p:nvPr/>
      </p:nvGrpSpPr>
      <p:grpSpPr>
        <a:xfrm>
          <a:off x="0" y="0"/>
          <a:ext cx="0" cy="0"/>
          <a:chOff x="0" y="0"/>
          <a:chExt cx="0" cy="0"/>
        </a:xfrm>
      </p:grpSpPr>
      <p:sp>
        <p:nvSpPr>
          <p:cNvPr id="28" name="矩形 27">
            <a:extLst>
              <a:ext uri="{FF2B5EF4-FFF2-40B4-BE49-F238E27FC236}">
                <a16:creationId xmlns:a16="http://schemas.microsoft.com/office/drawing/2014/main" id="{D0E1B615-34D7-76E4-00C4-7AB60C8C96EA}"/>
              </a:ext>
            </a:extLst>
          </p:cNvPr>
          <p:cNvSpPr/>
          <p:nvPr/>
        </p:nvSpPr>
        <p:spPr>
          <a:xfrm>
            <a:off x="0" y="6450875"/>
            <a:ext cx="12192000" cy="407125"/>
          </a:xfrm>
          <a:prstGeom prst="rect">
            <a:avLst/>
          </a:prstGeom>
          <a:solidFill>
            <a:srgbClr val="24569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1086071D-70C3-B3DC-F5E3-A7F29AE77887}"/>
              </a:ext>
            </a:extLst>
          </p:cNvPr>
          <p:cNvSpPr txBox="1"/>
          <p:nvPr/>
        </p:nvSpPr>
        <p:spPr>
          <a:xfrm>
            <a:off x="451828" y="157533"/>
            <a:ext cx="800219" cy="461665"/>
          </a:xfrm>
          <a:prstGeom prst="rect">
            <a:avLst/>
          </a:prstGeom>
          <a:noFill/>
        </p:spPr>
        <p:txBody>
          <a:bodyPr wrap="none" rtlCol="0">
            <a:spAutoFit/>
          </a:bodyPr>
          <a:lstStyle/>
          <a:p>
            <a:r>
              <a:rPr lang="zh-CN" altLang="en-US" sz="2400" dirty="0"/>
              <a:t>模型</a:t>
            </a:r>
          </a:p>
        </p:txBody>
      </p:sp>
      <p:pic>
        <p:nvPicPr>
          <p:cNvPr id="6" name="图片 5">
            <a:extLst>
              <a:ext uri="{FF2B5EF4-FFF2-40B4-BE49-F238E27FC236}">
                <a16:creationId xmlns:a16="http://schemas.microsoft.com/office/drawing/2014/main" id="{5B7883B6-7B07-7943-51EA-351ECA0C6E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57" y="1281690"/>
            <a:ext cx="12061486" cy="4294620"/>
          </a:xfrm>
          <a:prstGeom prst="rect">
            <a:avLst/>
          </a:prstGeom>
        </p:spPr>
      </p:pic>
    </p:spTree>
    <p:extLst>
      <p:ext uri="{BB962C8B-B14F-4D97-AF65-F5344CB8AC3E}">
        <p14:creationId xmlns:p14="http://schemas.microsoft.com/office/powerpoint/2010/main" val="2981465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6F3A976-CC46-DDFC-AB7B-29B63FB3F488}"/>
              </a:ext>
            </a:extLst>
          </p:cNvPr>
          <p:cNvSpPr txBox="1"/>
          <p:nvPr/>
        </p:nvSpPr>
        <p:spPr>
          <a:xfrm>
            <a:off x="451828" y="157533"/>
            <a:ext cx="800219" cy="461665"/>
          </a:xfrm>
          <a:prstGeom prst="rect">
            <a:avLst/>
          </a:prstGeom>
          <a:noFill/>
        </p:spPr>
        <p:txBody>
          <a:bodyPr wrap="none" rtlCol="0">
            <a:spAutoFit/>
          </a:bodyPr>
          <a:lstStyle/>
          <a:p>
            <a:r>
              <a:rPr lang="zh-CN" altLang="en-US" sz="2400" dirty="0"/>
              <a:t>实验</a:t>
            </a:r>
          </a:p>
        </p:txBody>
      </p:sp>
      <p:pic>
        <p:nvPicPr>
          <p:cNvPr id="4" name="图片 3">
            <a:extLst>
              <a:ext uri="{FF2B5EF4-FFF2-40B4-BE49-F238E27FC236}">
                <a16:creationId xmlns:a16="http://schemas.microsoft.com/office/drawing/2014/main" id="{E46902A5-7C23-C5E4-FE03-D6F79A4D91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228" y="1393065"/>
            <a:ext cx="5551808" cy="2035935"/>
          </a:xfrm>
          <a:prstGeom prst="rect">
            <a:avLst/>
          </a:prstGeom>
        </p:spPr>
      </p:pic>
      <p:pic>
        <p:nvPicPr>
          <p:cNvPr id="6" name="图片 5">
            <a:extLst>
              <a:ext uri="{FF2B5EF4-FFF2-40B4-BE49-F238E27FC236}">
                <a16:creationId xmlns:a16="http://schemas.microsoft.com/office/drawing/2014/main" id="{B3C904D8-7D06-D844-C469-4CC25938E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828" y="3805703"/>
            <a:ext cx="5480497" cy="2235784"/>
          </a:xfrm>
          <a:prstGeom prst="rect">
            <a:avLst/>
          </a:prstGeom>
        </p:spPr>
      </p:pic>
      <p:pic>
        <p:nvPicPr>
          <p:cNvPr id="8" name="图片 7">
            <a:extLst>
              <a:ext uri="{FF2B5EF4-FFF2-40B4-BE49-F238E27FC236}">
                <a16:creationId xmlns:a16="http://schemas.microsoft.com/office/drawing/2014/main" id="{BE1D374B-9BBF-0455-314A-9C9496D245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9677" y="2787735"/>
            <a:ext cx="5527278" cy="2035935"/>
          </a:xfrm>
          <a:prstGeom prst="rect">
            <a:avLst/>
          </a:prstGeom>
        </p:spPr>
      </p:pic>
    </p:spTree>
    <p:extLst>
      <p:ext uri="{BB962C8B-B14F-4D97-AF65-F5344CB8AC3E}">
        <p14:creationId xmlns:p14="http://schemas.microsoft.com/office/powerpoint/2010/main" val="1974427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D15EF-5DB4-C25B-AB9D-0EB8203E9CC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9C8B6DB-D459-78C8-C077-9DD650AE3F79}"/>
              </a:ext>
            </a:extLst>
          </p:cNvPr>
          <p:cNvSpPr txBox="1"/>
          <p:nvPr/>
        </p:nvSpPr>
        <p:spPr>
          <a:xfrm>
            <a:off x="451828" y="157533"/>
            <a:ext cx="2954655" cy="461665"/>
          </a:xfrm>
          <a:prstGeom prst="rect">
            <a:avLst/>
          </a:prstGeom>
          <a:noFill/>
        </p:spPr>
        <p:txBody>
          <a:bodyPr wrap="none" rtlCol="0">
            <a:spAutoFit/>
          </a:bodyPr>
          <a:lstStyle/>
          <a:p>
            <a:r>
              <a:rPr lang="zh-CN" altLang="en-US" sz="2400" dirty="0"/>
              <a:t>输出预测错误的数据</a:t>
            </a:r>
          </a:p>
        </p:txBody>
      </p:sp>
      <p:pic>
        <p:nvPicPr>
          <p:cNvPr id="9" name="图片 8">
            <a:extLst>
              <a:ext uri="{FF2B5EF4-FFF2-40B4-BE49-F238E27FC236}">
                <a16:creationId xmlns:a16="http://schemas.microsoft.com/office/drawing/2014/main" id="{A1511A50-BCCC-AB28-39DB-D57ECDE728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133" y="1095973"/>
            <a:ext cx="5612014" cy="5303353"/>
          </a:xfrm>
          <a:prstGeom prst="rect">
            <a:avLst/>
          </a:prstGeom>
        </p:spPr>
      </p:pic>
      <p:sp>
        <p:nvSpPr>
          <p:cNvPr id="10" name="文本框 9">
            <a:extLst>
              <a:ext uri="{FF2B5EF4-FFF2-40B4-BE49-F238E27FC236}">
                <a16:creationId xmlns:a16="http://schemas.microsoft.com/office/drawing/2014/main" id="{AB42BA1D-A148-1E5D-3AD3-7699929BB0FD}"/>
              </a:ext>
            </a:extLst>
          </p:cNvPr>
          <p:cNvSpPr txBox="1"/>
          <p:nvPr/>
        </p:nvSpPr>
        <p:spPr>
          <a:xfrm>
            <a:off x="6563338" y="2551837"/>
            <a:ext cx="4770379" cy="1754326"/>
          </a:xfrm>
          <a:prstGeom prst="rect">
            <a:avLst/>
          </a:prstGeom>
          <a:noFill/>
        </p:spPr>
        <p:txBody>
          <a:bodyPr wrap="square">
            <a:spAutoFit/>
          </a:bodyPr>
          <a:lstStyle/>
          <a:p>
            <a:r>
              <a:rPr lang="zh-CN" altLang="en-US" b="1" dirty="0">
                <a:latin typeface="-apple-system"/>
              </a:rPr>
              <a:t>在</a:t>
            </a:r>
            <a:r>
              <a:rPr lang="en-US" altLang="zh-CN" b="1" dirty="0">
                <a:latin typeface="-apple-system"/>
              </a:rPr>
              <a:t>Human</a:t>
            </a:r>
            <a:r>
              <a:rPr lang="zh-CN" altLang="en-US" b="1" dirty="0">
                <a:latin typeface="-apple-system"/>
              </a:rPr>
              <a:t>数据集上，在</a:t>
            </a:r>
            <a:r>
              <a:rPr lang="en-US" altLang="zh-CN" b="1" dirty="0">
                <a:latin typeface="-apple-system"/>
              </a:rPr>
              <a:t>5</a:t>
            </a:r>
            <a:r>
              <a:rPr lang="zh-CN" altLang="en-US" b="1" dirty="0">
                <a:latin typeface="-apple-system"/>
              </a:rPr>
              <a:t>个不同的随机种子进行实验，预测错误的数据索引为：</a:t>
            </a:r>
            <a:r>
              <a:rPr lang="en-US" altLang="zh-CN" b="1" dirty="0">
                <a:latin typeface="-apple-system"/>
              </a:rPr>
              <a:t>3</a:t>
            </a:r>
            <a:r>
              <a:rPr lang="zh-CN" altLang="en-US" b="1" dirty="0">
                <a:latin typeface="-apple-system"/>
              </a:rPr>
              <a:t>，</a:t>
            </a:r>
            <a:r>
              <a:rPr lang="en-US" altLang="zh-CN" b="1" dirty="0">
                <a:latin typeface="-apple-system"/>
              </a:rPr>
              <a:t>13</a:t>
            </a:r>
            <a:r>
              <a:rPr lang="zh-CN" altLang="en-US" b="1" dirty="0">
                <a:latin typeface="-apple-system"/>
              </a:rPr>
              <a:t>，</a:t>
            </a:r>
            <a:r>
              <a:rPr lang="en-US" altLang="zh-CN" b="1" dirty="0">
                <a:latin typeface="-apple-system"/>
              </a:rPr>
              <a:t>150</a:t>
            </a:r>
            <a:r>
              <a:rPr lang="zh-CN" altLang="en-US" b="1" dirty="0">
                <a:latin typeface="-apple-system"/>
              </a:rPr>
              <a:t>，</a:t>
            </a:r>
            <a:r>
              <a:rPr lang="en-US" altLang="zh-CN" b="1" dirty="0">
                <a:latin typeface="-apple-system"/>
              </a:rPr>
              <a:t>152</a:t>
            </a:r>
            <a:r>
              <a:rPr lang="zh-CN" altLang="en-US" b="1" dirty="0">
                <a:latin typeface="-apple-system"/>
              </a:rPr>
              <a:t>，</a:t>
            </a:r>
            <a:r>
              <a:rPr lang="en-US" altLang="zh-CN" b="1" dirty="0">
                <a:latin typeface="-apple-system"/>
              </a:rPr>
              <a:t>158</a:t>
            </a:r>
            <a:r>
              <a:rPr lang="zh-CN" altLang="en-US" b="1" dirty="0">
                <a:latin typeface="-apple-system"/>
              </a:rPr>
              <a:t>，</a:t>
            </a:r>
            <a:r>
              <a:rPr lang="en-US" altLang="zh-CN" b="1" dirty="0">
                <a:latin typeface="-apple-system"/>
              </a:rPr>
              <a:t>160</a:t>
            </a:r>
            <a:r>
              <a:rPr lang="zh-CN" altLang="en-US" b="1" dirty="0">
                <a:latin typeface="-apple-system"/>
              </a:rPr>
              <a:t>，</a:t>
            </a:r>
            <a:r>
              <a:rPr lang="en-US" altLang="zh-CN" b="1" dirty="0">
                <a:latin typeface="-apple-system"/>
              </a:rPr>
              <a:t>286</a:t>
            </a:r>
            <a:r>
              <a:rPr lang="zh-CN" altLang="en-US" b="1" dirty="0">
                <a:latin typeface="-apple-system"/>
              </a:rPr>
              <a:t>，</a:t>
            </a:r>
            <a:r>
              <a:rPr lang="en-US" altLang="zh-CN" b="1" dirty="0">
                <a:latin typeface="-apple-system"/>
              </a:rPr>
              <a:t>304</a:t>
            </a:r>
            <a:r>
              <a:rPr lang="zh-CN" altLang="en-US" b="1" dirty="0">
                <a:latin typeface="-apple-system"/>
              </a:rPr>
              <a:t>，</a:t>
            </a:r>
            <a:r>
              <a:rPr lang="en-US" altLang="zh-CN" b="1" dirty="0">
                <a:latin typeface="-apple-system"/>
              </a:rPr>
              <a:t>318</a:t>
            </a:r>
            <a:r>
              <a:rPr lang="zh-CN" altLang="en-US" b="1" dirty="0">
                <a:latin typeface="-apple-system"/>
              </a:rPr>
              <a:t>，</a:t>
            </a:r>
            <a:r>
              <a:rPr lang="en-US" altLang="zh-CN" b="1" dirty="0">
                <a:latin typeface="-apple-system"/>
              </a:rPr>
              <a:t>431</a:t>
            </a:r>
            <a:r>
              <a:rPr lang="zh-CN" altLang="en-US" b="1" dirty="0">
                <a:latin typeface="-apple-system"/>
              </a:rPr>
              <a:t>，</a:t>
            </a:r>
            <a:r>
              <a:rPr lang="en-US" altLang="zh-CN" b="1" dirty="0">
                <a:latin typeface="-apple-system"/>
              </a:rPr>
              <a:t>475</a:t>
            </a:r>
            <a:r>
              <a:rPr lang="zh-CN" altLang="en-US" b="1" dirty="0">
                <a:latin typeface="-apple-system"/>
              </a:rPr>
              <a:t>，</a:t>
            </a:r>
            <a:r>
              <a:rPr lang="en-US" altLang="zh-CN" b="1" dirty="0">
                <a:latin typeface="-apple-system"/>
              </a:rPr>
              <a:t>492</a:t>
            </a:r>
            <a:r>
              <a:rPr lang="zh-CN" altLang="en-US" b="1" dirty="0">
                <a:latin typeface="-apple-system"/>
              </a:rPr>
              <a:t>，</a:t>
            </a:r>
            <a:r>
              <a:rPr lang="en-US" altLang="zh-CN" b="1" dirty="0">
                <a:latin typeface="-apple-system"/>
              </a:rPr>
              <a:t>503</a:t>
            </a:r>
            <a:r>
              <a:rPr lang="zh-CN" altLang="en-US" b="1" dirty="0">
                <a:latin typeface="-apple-system"/>
              </a:rPr>
              <a:t>，</a:t>
            </a:r>
            <a:r>
              <a:rPr lang="en-US" altLang="zh-CN" b="1" dirty="0">
                <a:latin typeface="-apple-system"/>
              </a:rPr>
              <a:t>505</a:t>
            </a:r>
            <a:r>
              <a:rPr lang="zh-CN" altLang="en-US" b="1" dirty="0">
                <a:latin typeface="-apple-system"/>
              </a:rPr>
              <a:t>，</a:t>
            </a:r>
            <a:r>
              <a:rPr lang="en-US" altLang="zh-CN" b="1" dirty="0">
                <a:latin typeface="-apple-system"/>
              </a:rPr>
              <a:t>529</a:t>
            </a:r>
            <a:r>
              <a:rPr lang="zh-CN" altLang="en-US" b="1" dirty="0">
                <a:latin typeface="-apple-system"/>
              </a:rPr>
              <a:t>，</a:t>
            </a:r>
            <a:r>
              <a:rPr lang="en-US" altLang="zh-CN" b="1" dirty="0">
                <a:latin typeface="-apple-system"/>
              </a:rPr>
              <a:t>607</a:t>
            </a:r>
            <a:r>
              <a:rPr lang="zh-CN" altLang="en-US" b="1" dirty="0">
                <a:latin typeface="-apple-system"/>
              </a:rPr>
              <a:t>，</a:t>
            </a:r>
            <a:r>
              <a:rPr lang="en-US" altLang="zh-CN" b="1" dirty="0">
                <a:latin typeface="-apple-system"/>
              </a:rPr>
              <a:t>845</a:t>
            </a:r>
            <a:r>
              <a:rPr lang="zh-CN" altLang="en-US" b="1" dirty="0">
                <a:latin typeface="-apple-system"/>
              </a:rPr>
              <a:t>，</a:t>
            </a:r>
            <a:r>
              <a:rPr lang="en-US" altLang="zh-CN" b="1" dirty="0">
                <a:latin typeface="-apple-system"/>
              </a:rPr>
              <a:t>864</a:t>
            </a:r>
            <a:r>
              <a:rPr lang="zh-CN" altLang="en-US" b="1" dirty="0">
                <a:latin typeface="-apple-system"/>
              </a:rPr>
              <a:t>，</a:t>
            </a:r>
            <a:r>
              <a:rPr lang="en-US" altLang="zh-CN" b="1" dirty="0">
                <a:latin typeface="-apple-system"/>
              </a:rPr>
              <a:t>888</a:t>
            </a:r>
            <a:r>
              <a:rPr lang="zh-CN" altLang="en-US" b="1" dirty="0">
                <a:latin typeface="-apple-system"/>
              </a:rPr>
              <a:t>，</a:t>
            </a:r>
            <a:r>
              <a:rPr lang="en-US" altLang="zh-CN" b="1" dirty="0">
                <a:latin typeface="-apple-system"/>
              </a:rPr>
              <a:t>974</a:t>
            </a:r>
            <a:r>
              <a:rPr lang="zh-CN" altLang="en-US" b="1" dirty="0">
                <a:latin typeface="-apple-system"/>
              </a:rPr>
              <a:t>，</a:t>
            </a:r>
            <a:r>
              <a:rPr lang="en-US" altLang="zh-CN" b="1" dirty="0">
                <a:latin typeface="-apple-system"/>
              </a:rPr>
              <a:t>1003</a:t>
            </a:r>
            <a:r>
              <a:rPr lang="zh-CN" altLang="en-US" b="1" dirty="0">
                <a:latin typeface="-apple-system"/>
              </a:rPr>
              <a:t>，</a:t>
            </a:r>
            <a:r>
              <a:rPr lang="en-US" altLang="zh-CN" b="1" dirty="0">
                <a:latin typeface="-apple-system"/>
              </a:rPr>
              <a:t>1011</a:t>
            </a:r>
            <a:r>
              <a:rPr lang="zh-CN" altLang="en-US" b="1" dirty="0">
                <a:latin typeface="-apple-system"/>
              </a:rPr>
              <a:t>，</a:t>
            </a:r>
            <a:r>
              <a:rPr lang="en-US" altLang="zh-CN" b="1" dirty="0">
                <a:latin typeface="-apple-system"/>
              </a:rPr>
              <a:t>1032</a:t>
            </a:r>
            <a:r>
              <a:rPr lang="zh-CN" altLang="en-US" b="1" dirty="0">
                <a:latin typeface="-apple-system"/>
              </a:rPr>
              <a:t>，</a:t>
            </a:r>
            <a:r>
              <a:rPr lang="en-US" altLang="zh-CN" b="1" dirty="0">
                <a:latin typeface="-apple-system"/>
              </a:rPr>
              <a:t>1037</a:t>
            </a:r>
            <a:r>
              <a:rPr lang="zh-CN" altLang="en-US" b="1" dirty="0">
                <a:latin typeface="-apple-system"/>
              </a:rPr>
              <a:t>，</a:t>
            </a:r>
            <a:r>
              <a:rPr lang="en-US" altLang="zh-CN" b="1" dirty="0">
                <a:latin typeface="-apple-system"/>
              </a:rPr>
              <a:t>1050</a:t>
            </a:r>
            <a:r>
              <a:rPr lang="zh-CN" altLang="en-US" b="1" dirty="0">
                <a:latin typeface="-apple-system"/>
              </a:rPr>
              <a:t>，</a:t>
            </a:r>
            <a:r>
              <a:rPr lang="en-US" altLang="zh-CN" b="1" dirty="0">
                <a:latin typeface="-apple-system"/>
              </a:rPr>
              <a:t>1121</a:t>
            </a:r>
            <a:r>
              <a:rPr lang="zh-CN" altLang="en-US" b="1" dirty="0">
                <a:latin typeface="-apple-system"/>
              </a:rPr>
              <a:t>，</a:t>
            </a:r>
            <a:br>
              <a:rPr lang="en-US" altLang="zh-CN" b="1" dirty="0">
                <a:latin typeface="-apple-system"/>
              </a:rPr>
            </a:br>
            <a:r>
              <a:rPr lang="en-US" altLang="zh-CN" b="1" dirty="0">
                <a:latin typeface="-apple-system"/>
              </a:rPr>
              <a:t>1161</a:t>
            </a:r>
            <a:r>
              <a:rPr lang="zh-CN" altLang="en-US" b="1" dirty="0">
                <a:latin typeface="-apple-system"/>
              </a:rPr>
              <a:t>，</a:t>
            </a:r>
            <a:r>
              <a:rPr lang="en-US" altLang="zh-CN" b="1" dirty="0">
                <a:latin typeface="-apple-system"/>
              </a:rPr>
              <a:t>1183</a:t>
            </a:r>
            <a:endParaRPr lang="en-US" altLang="zh-CN" b="1" i="0" dirty="0">
              <a:effectLst/>
              <a:latin typeface="-apple-system"/>
            </a:endParaRPr>
          </a:p>
        </p:txBody>
      </p:sp>
    </p:spTree>
    <p:extLst>
      <p:ext uri="{BB962C8B-B14F-4D97-AF65-F5344CB8AC3E}">
        <p14:creationId xmlns:p14="http://schemas.microsoft.com/office/powerpoint/2010/main" val="311716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38262-A5CF-192E-1D1F-9919BB7BE56F}"/>
            </a:ext>
          </a:extLst>
        </p:cNvPr>
        <p:cNvGrpSpPr/>
        <p:nvPr/>
      </p:nvGrpSpPr>
      <p:grpSpPr>
        <a:xfrm>
          <a:off x="0" y="0"/>
          <a:ext cx="0" cy="0"/>
          <a:chOff x="0" y="0"/>
          <a:chExt cx="0" cy="0"/>
        </a:xfrm>
      </p:grpSpPr>
      <p:sp>
        <p:nvSpPr>
          <p:cNvPr id="28" name="矩形 27">
            <a:extLst>
              <a:ext uri="{FF2B5EF4-FFF2-40B4-BE49-F238E27FC236}">
                <a16:creationId xmlns:a16="http://schemas.microsoft.com/office/drawing/2014/main" id="{9ECB4C72-60DE-E6FA-7DEB-0508322C6603}"/>
              </a:ext>
            </a:extLst>
          </p:cNvPr>
          <p:cNvSpPr/>
          <p:nvPr/>
        </p:nvSpPr>
        <p:spPr>
          <a:xfrm>
            <a:off x="0" y="6450875"/>
            <a:ext cx="12192000" cy="407125"/>
          </a:xfrm>
          <a:prstGeom prst="rect">
            <a:avLst/>
          </a:prstGeom>
          <a:solidFill>
            <a:srgbClr val="24569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A85C590D-AC08-9802-C10E-F63FEC6ED27E}"/>
              </a:ext>
            </a:extLst>
          </p:cNvPr>
          <p:cNvSpPr txBox="1"/>
          <p:nvPr/>
        </p:nvSpPr>
        <p:spPr>
          <a:xfrm>
            <a:off x="451828" y="157533"/>
            <a:ext cx="1415772" cy="461665"/>
          </a:xfrm>
          <a:prstGeom prst="rect">
            <a:avLst/>
          </a:prstGeom>
          <a:noFill/>
        </p:spPr>
        <p:txBody>
          <a:bodyPr wrap="none" rtlCol="0">
            <a:spAutoFit/>
          </a:bodyPr>
          <a:lstStyle/>
          <a:p>
            <a:r>
              <a:rPr lang="zh-CN" altLang="en-US" sz="2400" dirty="0"/>
              <a:t>论文阅读</a:t>
            </a:r>
          </a:p>
        </p:txBody>
      </p:sp>
      <p:sp>
        <p:nvSpPr>
          <p:cNvPr id="8" name="文本框 7">
            <a:extLst>
              <a:ext uri="{FF2B5EF4-FFF2-40B4-BE49-F238E27FC236}">
                <a16:creationId xmlns:a16="http://schemas.microsoft.com/office/drawing/2014/main" id="{F82E8AC0-4645-0335-129E-AB8FDB737865}"/>
              </a:ext>
            </a:extLst>
          </p:cNvPr>
          <p:cNvSpPr txBox="1"/>
          <p:nvPr/>
        </p:nvSpPr>
        <p:spPr>
          <a:xfrm>
            <a:off x="837853" y="1165063"/>
            <a:ext cx="10037618" cy="3970318"/>
          </a:xfrm>
          <a:prstGeom prst="rect">
            <a:avLst/>
          </a:prstGeom>
          <a:noFill/>
        </p:spPr>
        <p:txBody>
          <a:bodyPr wrap="square">
            <a:spAutoFit/>
          </a:bodyPr>
          <a:lstStyle/>
          <a:p>
            <a:r>
              <a:rPr lang="en-US" altLang="zh-CN" b="1" i="0" dirty="0">
                <a:solidFill>
                  <a:srgbClr val="060607"/>
                </a:solidFill>
                <a:effectLst/>
                <a:latin typeface="-apple-system"/>
              </a:rPr>
              <a:t>KG-DTI</a:t>
            </a:r>
            <a:r>
              <a:rPr lang="zh-CN" altLang="en-US" b="1" i="0" dirty="0">
                <a:solidFill>
                  <a:srgbClr val="060607"/>
                </a:solidFill>
                <a:effectLst/>
                <a:latin typeface="-apple-system"/>
              </a:rPr>
              <a:t>：</a:t>
            </a:r>
            <a:r>
              <a:rPr lang="en-US" altLang="zh-CN" b="1" i="0" dirty="0">
                <a:solidFill>
                  <a:srgbClr val="060607"/>
                </a:solidFill>
                <a:effectLst/>
                <a:latin typeface="-apple-system"/>
              </a:rPr>
              <a:t>: a knowledge graph based deep learning method for drug-target interaction predictions and Alzheimer’s disease drug repositions</a:t>
            </a:r>
            <a:endParaRPr lang="en-US" altLang="zh-CN" b="1" dirty="0">
              <a:latin typeface="-apple-system"/>
            </a:endParaRPr>
          </a:p>
          <a:p>
            <a:endParaRPr lang="en-US" altLang="zh-CN" b="1" dirty="0">
              <a:latin typeface="-apple-system"/>
            </a:endParaRPr>
          </a:p>
          <a:p>
            <a:r>
              <a:rPr lang="en-US" altLang="zh-CN" b="1" dirty="0">
                <a:latin typeface="-apple-system"/>
              </a:rPr>
              <a:t>1</a:t>
            </a:r>
            <a:r>
              <a:rPr lang="en-US" altLang="zh-CN" b="1" i="0" dirty="0">
                <a:effectLst/>
                <a:latin typeface="-apple-system"/>
              </a:rPr>
              <a:t>.</a:t>
            </a:r>
            <a:r>
              <a:rPr lang="zh-CN" altLang="en-US" b="1" dirty="0">
                <a:latin typeface="-apple-system"/>
              </a:rPr>
              <a:t>背景</a:t>
            </a:r>
            <a:r>
              <a:rPr lang="zh-CN" altLang="en-US" dirty="0">
                <a:latin typeface="-apple-system"/>
              </a:rPr>
              <a:t>：</a:t>
            </a:r>
            <a:r>
              <a:rPr lang="zh-CN" altLang="en-US" b="1" i="0" dirty="0">
                <a:solidFill>
                  <a:srgbClr val="060607"/>
                </a:solidFill>
                <a:effectLst/>
                <a:latin typeface="-apple-system"/>
              </a:rPr>
              <a:t>基于配体的方法</a:t>
            </a:r>
            <a:r>
              <a:rPr lang="zh-CN" altLang="en-US" i="0" dirty="0">
                <a:solidFill>
                  <a:srgbClr val="060607"/>
                </a:solidFill>
                <a:effectLst/>
                <a:latin typeface="-apple-system"/>
              </a:rPr>
              <a:t>假设结构相似的分子具有相似的生物活性，但</a:t>
            </a:r>
            <a:r>
              <a:rPr lang="zh-CN" altLang="en-US" b="1" i="0" dirty="0">
                <a:solidFill>
                  <a:srgbClr val="060607"/>
                </a:solidFill>
                <a:effectLst/>
                <a:latin typeface="-apple-system"/>
              </a:rPr>
              <a:t>当生物活性较小的分子时，其性能会下降</a:t>
            </a:r>
            <a:r>
              <a:rPr lang="zh-CN" altLang="en-US" i="0" dirty="0">
                <a:solidFill>
                  <a:srgbClr val="060607"/>
                </a:solidFill>
                <a:effectLst/>
                <a:latin typeface="-apple-system"/>
              </a:rPr>
              <a:t>。</a:t>
            </a:r>
            <a:r>
              <a:rPr lang="zh-CN" altLang="en-US" b="1" i="0" dirty="0">
                <a:solidFill>
                  <a:srgbClr val="060607"/>
                </a:solidFill>
                <a:effectLst/>
                <a:latin typeface="-apple-system"/>
              </a:rPr>
              <a:t>信息网络方法</a:t>
            </a:r>
            <a:r>
              <a:rPr lang="zh-CN" altLang="en-US" i="0" dirty="0">
                <a:solidFill>
                  <a:srgbClr val="060607"/>
                </a:solidFill>
                <a:effectLst/>
                <a:latin typeface="-apple-system"/>
              </a:rPr>
              <a:t>通过整合药物</a:t>
            </a:r>
            <a:r>
              <a:rPr lang="en-US" altLang="zh-CN" i="0" dirty="0">
                <a:solidFill>
                  <a:srgbClr val="060607"/>
                </a:solidFill>
                <a:effectLst/>
                <a:latin typeface="-apple-system"/>
              </a:rPr>
              <a:t>-</a:t>
            </a:r>
            <a:r>
              <a:rPr lang="zh-CN" altLang="en-US" i="0" dirty="0">
                <a:solidFill>
                  <a:srgbClr val="060607"/>
                </a:solidFill>
                <a:effectLst/>
                <a:latin typeface="-apple-system"/>
              </a:rPr>
              <a:t>药物、药物</a:t>
            </a:r>
            <a:r>
              <a:rPr lang="en-US" altLang="zh-CN" i="0" dirty="0">
                <a:solidFill>
                  <a:srgbClr val="060607"/>
                </a:solidFill>
                <a:effectLst/>
                <a:latin typeface="-apple-system"/>
              </a:rPr>
              <a:t>-</a:t>
            </a:r>
            <a:r>
              <a:rPr lang="zh-CN" altLang="en-US" i="0" dirty="0">
                <a:solidFill>
                  <a:srgbClr val="060607"/>
                </a:solidFill>
                <a:effectLst/>
                <a:latin typeface="-apple-system"/>
              </a:rPr>
              <a:t>疾病等网络来提取药物和靶标的低维特征表示，但</a:t>
            </a:r>
            <a:r>
              <a:rPr lang="zh-CN" altLang="en-US" b="1" i="0" dirty="0">
                <a:solidFill>
                  <a:srgbClr val="060607"/>
                </a:solidFill>
                <a:effectLst/>
                <a:latin typeface="-apple-system"/>
              </a:rPr>
              <a:t>在大规模数据上难以训练</a:t>
            </a:r>
            <a:r>
              <a:rPr lang="zh-CN" altLang="en-US" i="0" dirty="0">
                <a:solidFill>
                  <a:srgbClr val="060607"/>
                </a:solidFill>
                <a:effectLst/>
                <a:latin typeface="-apple-system"/>
              </a:rPr>
              <a:t>。基于结构的方法虽然能够很好地表示和描述</a:t>
            </a:r>
            <a:r>
              <a:rPr lang="en-US" altLang="zh-CN" i="0" dirty="0">
                <a:solidFill>
                  <a:srgbClr val="060607"/>
                </a:solidFill>
                <a:effectLst/>
                <a:latin typeface="-apple-system"/>
              </a:rPr>
              <a:t>DTI</a:t>
            </a:r>
            <a:r>
              <a:rPr lang="zh-CN" altLang="en-US" i="0" dirty="0">
                <a:solidFill>
                  <a:srgbClr val="060607"/>
                </a:solidFill>
                <a:effectLst/>
                <a:latin typeface="-apple-system"/>
              </a:rPr>
              <a:t>，但许多靶标缺乏明确的三维结构，使得基于分子结构的</a:t>
            </a:r>
            <a:r>
              <a:rPr lang="en-US" altLang="zh-CN" i="0" dirty="0">
                <a:solidFill>
                  <a:srgbClr val="060607"/>
                </a:solidFill>
                <a:effectLst/>
                <a:latin typeface="-apple-system"/>
              </a:rPr>
              <a:t>DTI</a:t>
            </a:r>
            <a:r>
              <a:rPr lang="zh-CN" altLang="en-US" i="0" dirty="0">
                <a:solidFill>
                  <a:srgbClr val="060607"/>
                </a:solidFill>
                <a:effectLst/>
                <a:latin typeface="-apple-system"/>
              </a:rPr>
              <a:t>预测变得困难</a:t>
            </a:r>
            <a:r>
              <a:rPr lang="en-US" altLang="zh-CN" b="0" i="0" dirty="0">
                <a:solidFill>
                  <a:srgbClr val="060607"/>
                </a:solidFill>
                <a:effectLst/>
                <a:latin typeface="-apple-system"/>
              </a:rPr>
              <a:t>.</a:t>
            </a:r>
            <a:endParaRPr lang="en-US" altLang="zh-CN" b="1" i="0" dirty="0">
              <a:effectLst/>
              <a:latin typeface="-apple-system"/>
            </a:endParaRPr>
          </a:p>
          <a:p>
            <a:endParaRPr lang="en-US" altLang="zh-CN" b="1" i="0" dirty="0">
              <a:effectLst/>
              <a:latin typeface="-apple-system"/>
            </a:endParaRPr>
          </a:p>
          <a:p>
            <a:r>
              <a:rPr lang="en-US" altLang="zh-CN" dirty="0">
                <a:latin typeface="-apple-system"/>
              </a:rPr>
              <a:t>2.</a:t>
            </a:r>
            <a:r>
              <a:rPr lang="zh-CN" altLang="en-US" b="1" dirty="0">
                <a:latin typeface="-apple-system"/>
              </a:rPr>
              <a:t>创新</a:t>
            </a:r>
            <a:r>
              <a:rPr lang="zh-CN" altLang="en-US" dirty="0">
                <a:latin typeface="-apple-system"/>
              </a:rPr>
              <a:t>：</a:t>
            </a:r>
            <a:r>
              <a:rPr lang="zh-CN" altLang="en-US" b="0" i="0" dirty="0">
                <a:solidFill>
                  <a:srgbClr val="060607"/>
                </a:solidFill>
                <a:effectLst/>
                <a:latin typeface="-apple-system"/>
              </a:rPr>
              <a:t>文章构建了一个包含</a:t>
            </a:r>
            <a:r>
              <a:rPr lang="en-US" altLang="zh-CN" b="0" i="0" dirty="0">
                <a:solidFill>
                  <a:srgbClr val="060607"/>
                </a:solidFill>
                <a:effectLst/>
                <a:latin typeface="-apple-system"/>
              </a:rPr>
              <a:t>29,607</a:t>
            </a:r>
            <a:r>
              <a:rPr lang="zh-CN" altLang="en-US" b="0" i="0" dirty="0">
                <a:solidFill>
                  <a:srgbClr val="060607"/>
                </a:solidFill>
                <a:effectLst/>
                <a:latin typeface="-apple-system"/>
              </a:rPr>
              <a:t>个正样本药物</a:t>
            </a:r>
            <a:r>
              <a:rPr lang="en-US" altLang="zh-CN" b="0" i="0" dirty="0">
                <a:solidFill>
                  <a:srgbClr val="060607"/>
                </a:solidFill>
                <a:effectLst/>
                <a:latin typeface="-apple-system"/>
              </a:rPr>
              <a:t>-</a:t>
            </a:r>
            <a:r>
              <a:rPr lang="zh-CN" altLang="en-US" b="0" i="0" dirty="0">
                <a:solidFill>
                  <a:srgbClr val="060607"/>
                </a:solidFill>
                <a:effectLst/>
                <a:latin typeface="-apple-system"/>
              </a:rPr>
              <a:t>靶标对的知识图谱，使用</a:t>
            </a:r>
            <a:r>
              <a:rPr lang="en-US" altLang="zh-CN" b="0" i="0" dirty="0" err="1">
                <a:solidFill>
                  <a:srgbClr val="060607"/>
                </a:solidFill>
                <a:effectLst/>
                <a:latin typeface="-apple-system"/>
              </a:rPr>
              <a:t>DistMult</a:t>
            </a:r>
            <a:r>
              <a:rPr lang="zh-CN" altLang="en-US" b="0" i="0" dirty="0">
                <a:solidFill>
                  <a:srgbClr val="060607"/>
                </a:solidFill>
                <a:effectLst/>
                <a:latin typeface="-apple-system"/>
              </a:rPr>
              <a:t>嵌入策略对药物和靶标进行嵌入。在知识图谱中，药物和靶蛋白被视作为实体，两者之间的相互作用视作关系，使用</a:t>
            </a:r>
            <a:r>
              <a:rPr lang="en-US" altLang="zh-CN" b="0" i="0" dirty="0" err="1">
                <a:solidFill>
                  <a:srgbClr val="060607"/>
                </a:solidFill>
                <a:effectLst/>
                <a:latin typeface="-apple-system"/>
              </a:rPr>
              <a:t>DistMult</a:t>
            </a:r>
            <a:r>
              <a:rPr lang="zh-CN" altLang="en-US" b="0" i="0" dirty="0">
                <a:solidFill>
                  <a:srgbClr val="060607"/>
                </a:solidFill>
                <a:effectLst/>
                <a:latin typeface="-apple-system"/>
              </a:rPr>
              <a:t>模型对知识图谱中的实体进行嵌入，通过实体向量和关系矩阵的双线性变换来表示实体之间的关系。</a:t>
            </a:r>
            <a:r>
              <a:rPr lang="zh-CN" altLang="en-US" b="1" i="0" dirty="0">
                <a:solidFill>
                  <a:srgbClr val="060607"/>
                </a:solidFill>
                <a:effectLst/>
                <a:latin typeface="-apple-system"/>
              </a:rPr>
              <a:t>通过构建知识图谱，能够有效地表示药物和靶标之间的复杂关系，为模型提供了丰富的上下文信息</a:t>
            </a:r>
            <a:endParaRPr lang="en-US" altLang="zh-CN" b="1" dirty="0">
              <a:latin typeface="-apple-system"/>
            </a:endParaRPr>
          </a:p>
          <a:p>
            <a:endParaRPr lang="en-US" altLang="zh-CN" b="0" i="0" dirty="0">
              <a:effectLst/>
              <a:latin typeface="-apple-system"/>
            </a:endParaRPr>
          </a:p>
        </p:txBody>
      </p:sp>
    </p:spTree>
    <p:extLst>
      <p:ext uri="{BB962C8B-B14F-4D97-AF65-F5344CB8AC3E}">
        <p14:creationId xmlns:p14="http://schemas.microsoft.com/office/powerpoint/2010/main" val="2466586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211F0-E026-0956-D3D3-2B384EFADAB4}"/>
            </a:ext>
          </a:extLst>
        </p:cNvPr>
        <p:cNvGrpSpPr/>
        <p:nvPr/>
      </p:nvGrpSpPr>
      <p:grpSpPr>
        <a:xfrm>
          <a:off x="0" y="0"/>
          <a:ext cx="0" cy="0"/>
          <a:chOff x="0" y="0"/>
          <a:chExt cx="0" cy="0"/>
        </a:xfrm>
      </p:grpSpPr>
      <p:sp>
        <p:nvSpPr>
          <p:cNvPr id="28" name="矩形 27">
            <a:extLst>
              <a:ext uri="{FF2B5EF4-FFF2-40B4-BE49-F238E27FC236}">
                <a16:creationId xmlns:a16="http://schemas.microsoft.com/office/drawing/2014/main" id="{CC89E9A7-2121-A4AD-04B9-B381ADC8E7E7}"/>
              </a:ext>
            </a:extLst>
          </p:cNvPr>
          <p:cNvSpPr/>
          <p:nvPr/>
        </p:nvSpPr>
        <p:spPr>
          <a:xfrm>
            <a:off x="0" y="6450875"/>
            <a:ext cx="12192000" cy="407125"/>
          </a:xfrm>
          <a:prstGeom prst="rect">
            <a:avLst/>
          </a:prstGeom>
          <a:solidFill>
            <a:srgbClr val="24569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DB74ED89-71A6-5475-40E8-F0BC3C9059AD}"/>
              </a:ext>
            </a:extLst>
          </p:cNvPr>
          <p:cNvSpPr txBox="1"/>
          <p:nvPr/>
        </p:nvSpPr>
        <p:spPr>
          <a:xfrm>
            <a:off x="451828" y="157533"/>
            <a:ext cx="3340979" cy="461665"/>
          </a:xfrm>
          <a:prstGeom prst="rect">
            <a:avLst/>
          </a:prstGeom>
          <a:noFill/>
        </p:spPr>
        <p:txBody>
          <a:bodyPr wrap="none" rtlCol="0">
            <a:spAutoFit/>
          </a:bodyPr>
          <a:lstStyle/>
          <a:p>
            <a:r>
              <a:rPr lang="zh-CN" altLang="en-US" sz="2400" dirty="0"/>
              <a:t>将知识图谱和模型结合</a:t>
            </a:r>
          </a:p>
        </p:txBody>
      </p:sp>
      <p:pic>
        <p:nvPicPr>
          <p:cNvPr id="5" name="图片 4">
            <a:extLst>
              <a:ext uri="{FF2B5EF4-FFF2-40B4-BE49-F238E27FC236}">
                <a16:creationId xmlns:a16="http://schemas.microsoft.com/office/drawing/2014/main" id="{E9D8DEF2-CE3F-CA9F-4C3F-D680776621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7867" y="2152978"/>
            <a:ext cx="5112047" cy="1839810"/>
          </a:xfrm>
          <a:prstGeom prst="rect">
            <a:avLst/>
          </a:prstGeom>
        </p:spPr>
      </p:pic>
      <p:pic>
        <p:nvPicPr>
          <p:cNvPr id="7" name="图片 6">
            <a:extLst>
              <a:ext uri="{FF2B5EF4-FFF2-40B4-BE49-F238E27FC236}">
                <a16:creationId xmlns:a16="http://schemas.microsoft.com/office/drawing/2014/main" id="{8FDEB1C0-95D7-8765-C1CE-329BC505B0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4337" y="1536757"/>
            <a:ext cx="6298517" cy="3661553"/>
          </a:xfrm>
          <a:prstGeom prst="rect">
            <a:avLst/>
          </a:prstGeom>
        </p:spPr>
      </p:pic>
    </p:spTree>
    <p:extLst>
      <p:ext uri="{BB962C8B-B14F-4D97-AF65-F5344CB8AC3E}">
        <p14:creationId xmlns:p14="http://schemas.microsoft.com/office/powerpoint/2010/main" val="286672805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11200</TotalTime>
  <Words>1214</Words>
  <Application>Microsoft Office PowerPoint</Application>
  <PresentationFormat>宽屏</PresentationFormat>
  <Paragraphs>66</Paragraphs>
  <Slides>12</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12</vt:i4>
      </vt:variant>
    </vt:vector>
  </HeadingPairs>
  <TitlesOfParts>
    <vt:vector size="19" baseType="lpstr">
      <vt:lpstr>-apple-system</vt:lpstr>
      <vt:lpstr>等线</vt:lpstr>
      <vt:lpstr>等线 Light</vt:lpstr>
      <vt:lpstr>宋体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垲城 张</dc:creator>
  <cp:lastModifiedBy>垲城 张</cp:lastModifiedBy>
  <cp:revision>7</cp:revision>
  <dcterms:created xsi:type="dcterms:W3CDTF">2024-12-24T14:32:12Z</dcterms:created>
  <dcterms:modified xsi:type="dcterms:W3CDTF">2025-01-07T13:08:39Z</dcterms:modified>
</cp:coreProperties>
</file>